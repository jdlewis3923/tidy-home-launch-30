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FFD400"/>
                </a:solidFill>
                <a:latin typeface="Aptos"/>
              </a:defRPr>
            </a:pPr>
            <a:r>
              <a:t>YOUR REPUTATION STARTS AT THE DOORSTEP</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FFFFFF"/>
                </a:solidFill>
                <a:latin typeface="Aptos"/>
              </a:defRPr>
            </a:pPr>
            <a:r>
              <a:t>Welcome to TIDY.</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01</a:t>
            </a:r>
          </a:p>
        </p:txBody>
      </p:sp>
      <p:pic>
        <p:nvPicPr>
          <p:cNvPr id="8" name="Picture 7" descr="tidy_official_logo.png"/>
          <p:cNvPicPr>
            <a:picLocks noChangeAspect="1"/>
          </p:cNvPicPr>
          <p:nvPr/>
        </p:nvPicPr>
        <p:blipFill>
          <a:blip r:embed="rId2"/>
          <a:stretch>
            <a:fillRect/>
          </a:stretch>
        </p:blipFill>
        <p:spPr>
          <a:xfrm>
            <a:off x="8321040" y="2011680"/>
            <a:ext cx="2834640" cy="2342729"/>
          </a:xfrm>
          <a:prstGeom prst="rect">
            <a:avLst/>
          </a:prstGeom>
        </p:spPr>
      </p:pic>
      <p:sp>
        <p:nvSpPr>
          <p:cNvPr id="9" name="TextBox 8"/>
          <p:cNvSpPr txBox="1"/>
          <p:nvPr/>
        </p:nvSpPr>
        <p:spPr>
          <a:xfrm>
            <a:off x="731520" y="2377440"/>
            <a:ext cx="6400800" cy="1828800"/>
          </a:xfrm>
          <a:prstGeom prst="rect">
            <a:avLst/>
          </a:prstGeom>
          <a:noFill/>
        </p:spPr>
        <p:txBody>
          <a:bodyPr wrap="square">
            <a:spAutoFit/>
          </a:bodyPr>
          <a:lstStyle/>
          <a:p>
            <a:pPr>
              <a:spcAft>
                <a:spcPts val="700"/>
              </a:spcAft>
              <a:defRPr sz="3000" b="1">
                <a:solidFill>
                  <a:srgbClr val="FFFFFF"/>
                </a:solidFill>
                <a:latin typeface="Aptos"/>
              </a:defRPr>
            </a:pPr>
            <a:r>
              <a:t>One home. One trusted Pro.</a:t>
            </a:r>
          </a:p>
          <a:p>
            <a:pPr>
              <a:spcAft>
                <a:spcPts val="700"/>
              </a:spcAft>
              <a:defRPr sz="3000" b="1">
                <a:solidFill>
                  <a:srgbClr val="FFFFFF"/>
                </a:solidFill>
                <a:latin typeface="Aptos"/>
              </a:defRPr>
            </a:pPr>
            <a:r>
              <a:t>One consistent standard.</a:t>
            </a:r>
          </a:p>
        </p:txBody>
      </p:sp>
      <p:sp>
        <p:nvSpPr>
          <p:cNvPr id="10" name="TextBox 9"/>
          <p:cNvSpPr txBox="1"/>
          <p:nvPr/>
        </p:nvSpPr>
        <p:spPr>
          <a:xfrm>
            <a:off x="731520" y="4937760"/>
            <a:ext cx="7315200" cy="914400"/>
          </a:xfrm>
          <a:prstGeom prst="rect">
            <a:avLst/>
          </a:prstGeom>
          <a:noFill/>
        </p:spPr>
        <p:txBody>
          <a:bodyPr wrap="square">
            <a:spAutoFit/>
          </a:bodyPr>
          <a:lstStyle/>
          <a:p>
            <a:pPr>
              <a:spcAft>
                <a:spcPts val="700"/>
              </a:spcAft>
              <a:defRPr sz="1700" b="0">
                <a:solidFill>
                  <a:srgbClr val="FFFFFF"/>
                </a:solidFill>
                <a:latin typeface="Aptos"/>
              </a:defRPr>
            </a:pPr>
            <a:r>
              <a:t>Residential cleaning • Lawn care • Car care</a:t>
            </a:r>
          </a:p>
          <a:p>
            <a:pPr>
              <a:spcAft>
                <a:spcPts val="700"/>
              </a:spcAft>
              <a:defRPr sz="1700" b="0">
                <a:solidFill>
                  <a:srgbClr val="FFFFFF"/>
                </a:solidFill>
                <a:latin typeface="Aptos"/>
              </a:defRPr>
            </a:pPr>
            <a:r>
              <a:t>Pinecrest • Kendall • Kendall West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01 / OUR OPERATING PHILOSOPHY</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The promise behind the brand</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02</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300" b="0">
                <a:solidFill>
                  <a:srgbClr val="101923"/>
                </a:solidFill>
                <a:latin typeface="Aptos"/>
              </a:defRPr>
            </a:pPr>
            <a:r>
              <a:t>More life. Less chores.</a:t>
            </a:r>
          </a:p>
          <a:p>
            <a:pPr>
              <a:spcAft>
                <a:spcPts val="700"/>
              </a:spcAft>
              <a:defRPr sz="2300" b="0">
                <a:solidFill>
                  <a:srgbClr val="101923"/>
                </a:solidFill>
                <a:latin typeface="Aptos"/>
              </a:defRPr>
            </a:pPr>
          </a:p>
          <a:p>
            <a:pPr>
              <a:spcAft>
                <a:spcPts val="700"/>
              </a:spcAft>
              <a:defRPr sz="2300" b="0">
                <a:solidFill>
                  <a:srgbClr val="101923"/>
                </a:solidFill>
                <a:latin typeface="Aptos"/>
              </a:defRPr>
            </a:pPr>
            <a:r>
              <a:t>Customers are not buying a task. They are buying their time back, peace of mind, a respected home, and the confidence that the work will be done correctly without managing it themselves.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FFD400"/>
                </a:solidFill>
                <a:latin typeface="Aptos"/>
              </a:defRPr>
            </a:pPr>
            <a:r>
              <a:t>OUR STANDARD IN FOUR WORDS</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FFFFFF"/>
                </a:solidFill>
                <a:latin typeface="Aptos"/>
              </a:defRPr>
            </a:pPr>
            <a:r>
              <a:t>What customers should experience</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03</a:t>
            </a:r>
          </a:p>
        </p:txBody>
      </p:sp>
      <p:sp>
        <p:nvSpPr>
          <p:cNvPr id="8" name="Rounded Rectangle 7"/>
          <p:cNvSpPr/>
          <p:nvPr/>
        </p:nvSpPr>
        <p:spPr>
          <a:xfrm>
            <a:off x="640080"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3508248" cy="100584"/>
          </a:xfrm>
          <a:prstGeom prst="rect">
            <a:avLst/>
          </a:prstGeom>
          <a:solidFill>
            <a:srgbClr val="087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RELIABLE</a:t>
            </a:r>
          </a:p>
        </p:txBody>
      </p:sp>
      <p:sp>
        <p:nvSpPr>
          <p:cNvPr id="11" name="TextBox 10"/>
          <p:cNvSpPr txBox="1"/>
          <p:nvPr/>
        </p:nvSpPr>
        <p:spPr>
          <a:xfrm>
            <a:off x="822959" y="3246120"/>
            <a:ext cx="3142488" cy="2194560"/>
          </a:xfrm>
          <a:prstGeom prst="rect">
            <a:avLst/>
          </a:prstGeom>
          <a:noFill/>
        </p:spPr>
        <p:txBody>
          <a:bodyPr wrap="square">
            <a:spAutoFit/>
          </a:bodyPr>
          <a:lstStyle/>
          <a:p>
            <a:pPr>
              <a:spcAft>
                <a:spcPts val="700"/>
              </a:spcAft>
              <a:defRPr sz="1700" b="0">
                <a:solidFill>
                  <a:srgbClr val="101923"/>
                </a:solidFill>
                <a:latin typeface="Aptos"/>
              </a:defRPr>
            </a:pPr>
            <a:r>
              <a:t>Arrive within the confirmed window; communicate changes early.</a:t>
            </a:r>
          </a:p>
        </p:txBody>
      </p:sp>
      <p:sp>
        <p:nvSpPr>
          <p:cNvPr id="12" name="Rounded Rectangle 11"/>
          <p:cNvSpPr/>
          <p:nvPr/>
        </p:nvSpPr>
        <p:spPr>
          <a:xfrm>
            <a:off x="4349496"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9496" y="1965960"/>
            <a:ext cx="3508248" cy="100584"/>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2376"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RESPECTFUL</a:t>
            </a:r>
          </a:p>
        </p:txBody>
      </p:sp>
      <p:sp>
        <p:nvSpPr>
          <p:cNvPr id="15" name="TextBox 14"/>
          <p:cNvSpPr txBox="1"/>
          <p:nvPr/>
        </p:nvSpPr>
        <p:spPr>
          <a:xfrm>
            <a:off x="4532376" y="3246120"/>
            <a:ext cx="3142488" cy="2194560"/>
          </a:xfrm>
          <a:prstGeom prst="rect">
            <a:avLst/>
          </a:prstGeom>
          <a:noFill/>
        </p:spPr>
        <p:txBody>
          <a:bodyPr wrap="square">
            <a:spAutoFit/>
          </a:bodyPr>
          <a:lstStyle/>
          <a:p>
            <a:pPr>
              <a:spcAft>
                <a:spcPts val="700"/>
              </a:spcAft>
              <a:defRPr sz="1700" b="0">
                <a:solidFill>
                  <a:srgbClr val="101923"/>
                </a:solidFill>
                <a:latin typeface="Aptos"/>
              </a:defRPr>
            </a:pPr>
            <a:r>
              <a:t>Protect the home, family, privacy, pets, and property.</a:t>
            </a:r>
          </a:p>
        </p:txBody>
      </p:sp>
      <p:sp>
        <p:nvSpPr>
          <p:cNvPr id="16" name="Rounded Rectangle 15"/>
          <p:cNvSpPr/>
          <p:nvPr/>
        </p:nvSpPr>
        <p:spPr>
          <a:xfrm>
            <a:off x="8058911"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8911" y="1965960"/>
            <a:ext cx="3508248" cy="100584"/>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1"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THOROUGH</a:t>
            </a:r>
          </a:p>
        </p:txBody>
      </p:sp>
      <p:sp>
        <p:nvSpPr>
          <p:cNvPr id="19" name="TextBox 18"/>
          <p:cNvSpPr txBox="1"/>
          <p:nvPr/>
        </p:nvSpPr>
        <p:spPr>
          <a:xfrm>
            <a:off x="8241791" y="3246120"/>
            <a:ext cx="3142488" cy="2194560"/>
          </a:xfrm>
          <a:prstGeom prst="rect">
            <a:avLst/>
          </a:prstGeom>
          <a:noFill/>
        </p:spPr>
        <p:txBody>
          <a:bodyPr wrap="square">
            <a:spAutoFit/>
          </a:bodyPr>
          <a:lstStyle/>
          <a:p>
            <a:pPr>
              <a:spcAft>
                <a:spcPts val="700"/>
              </a:spcAft>
              <a:defRPr sz="1700" b="0">
                <a:solidFill>
                  <a:srgbClr val="101923"/>
                </a:solidFill>
                <a:latin typeface="Aptos"/>
              </a:defRPr>
            </a:pPr>
            <a:r>
              <a:t>Complete the booked scope; inspect the details before leaving.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INDEPENDENT CONTRACTOR RELATIONSHIP</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What TIDY does—and what you do</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04</a:t>
            </a:r>
          </a:p>
        </p:txBody>
      </p:sp>
      <p:sp>
        <p:nvSpPr>
          <p:cNvPr id="8" name="Rounded Rectangle 7"/>
          <p:cNvSpPr/>
          <p:nvPr/>
        </p:nvSpPr>
        <p:spPr>
          <a:xfrm>
            <a:off x="640080"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3508248" cy="100584"/>
          </a:xfrm>
          <a:prstGeom prst="rect">
            <a:avLst/>
          </a:prstGeom>
          <a:solidFill>
            <a:srgbClr val="087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TIDY</a:t>
            </a:r>
          </a:p>
        </p:txBody>
      </p:sp>
      <p:sp>
        <p:nvSpPr>
          <p:cNvPr id="11" name="TextBox 10"/>
          <p:cNvSpPr txBox="1"/>
          <p:nvPr/>
        </p:nvSpPr>
        <p:spPr>
          <a:xfrm>
            <a:off x="822959"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Connects customers with qualified Pros; communicates booked scope, arrival windows, customer support and payment terms.</a:t>
            </a:r>
          </a:p>
        </p:txBody>
      </p:sp>
      <p:sp>
        <p:nvSpPr>
          <p:cNvPr id="12" name="Rounded Rectangle 11"/>
          <p:cNvSpPr/>
          <p:nvPr/>
        </p:nvSpPr>
        <p:spPr>
          <a:xfrm>
            <a:off x="4349496"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9496" y="1965960"/>
            <a:ext cx="3508248" cy="100584"/>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2376"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YOU</a:t>
            </a:r>
          </a:p>
        </p:txBody>
      </p:sp>
      <p:sp>
        <p:nvSpPr>
          <p:cNvPr id="15" name="TextBox 14"/>
          <p:cNvSpPr txBox="1"/>
          <p:nvPr/>
        </p:nvSpPr>
        <p:spPr>
          <a:xfrm>
            <a:off x="4532376"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Choose whether to accept offered work, maintain required coverage, supply your professional expertise, and deliver the agreed result.</a:t>
            </a:r>
          </a:p>
        </p:txBody>
      </p:sp>
      <p:sp>
        <p:nvSpPr>
          <p:cNvPr id="16" name="Rounded Rectangle 15"/>
          <p:cNvSpPr/>
          <p:nvPr/>
        </p:nvSpPr>
        <p:spPr>
          <a:xfrm>
            <a:off x="8058911"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8911" y="1965960"/>
            <a:ext cx="3508248" cy="100584"/>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1"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TOGETHER</a:t>
            </a:r>
          </a:p>
        </p:txBody>
      </p:sp>
      <p:sp>
        <p:nvSpPr>
          <p:cNvPr id="19" name="TextBox 18"/>
          <p:cNvSpPr txBox="1"/>
          <p:nvPr/>
        </p:nvSpPr>
        <p:spPr>
          <a:xfrm>
            <a:off x="8241791"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Protect the customer experience through clear scope, documentation and timely escalation.</a:t>
            </a:r>
          </a:p>
        </p:txBody>
      </p:sp>
      <p:sp>
        <p:nvSpPr>
          <p:cNvPr id="20" name="Rectangle 19"/>
          <p:cNvSpPr/>
          <p:nvPr/>
        </p:nvSpPr>
        <p:spPr>
          <a:xfrm>
            <a:off x="640080" y="6053328"/>
            <a:ext cx="10927080" cy="31089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6099048"/>
            <a:ext cx="10607040" cy="228600"/>
          </a:xfrm>
          <a:prstGeom prst="rect">
            <a:avLst/>
          </a:prstGeom>
          <a:noFill/>
        </p:spPr>
        <p:txBody>
          <a:bodyPr wrap="square">
            <a:spAutoFit/>
          </a:bodyPr>
          <a:lstStyle/>
          <a:p>
            <a:pPr>
              <a:spcAft>
                <a:spcPts val="700"/>
              </a:spcAft>
              <a:defRPr sz="1100" b="1">
                <a:solidFill>
                  <a:srgbClr val="101923"/>
                </a:solidFill>
                <a:latin typeface="Aptos"/>
              </a:defRPr>
            </a:pPr>
            <a:r>
              <a:t>Contractor classification and agreement terms require legal review before release.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FIVE READINESS GATES</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Before your first appointment</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05</a:t>
            </a:r>
          </a:p>
        </p:txBody>
      </p:sp>
      <p:sp>
        <p:nvSpPr>
          <p:cNvPr id="8" name="Rounded Rectangle 7"/>
          <p:cNvSpPr/>
          <p:nvPr/>
        </p:nvSpPr>
        <p:spPr>
          <a:xfrm>
            <a:off x="640080"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3508248" cy="100584"/>
          </a:xfrm>
          <a:prstGeom prst="rect">
            <a:avLst/>
          </a:prstGeom>
          <a:solidFill>
            <a:srgbClr val="087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01–02</a:t>
            </a:r>
          </a:p>
        </p:txBody>
      </p:sp>
      <p:sp>
        <p:nvSpPr>
          <p:cNvPr id="11" name="TextBox 10"/>
          <p:cNvSpPr txBox="1"/>
          <p:nvPr/>
        </p:nvSpPr>
        <p:spPr>
          <a:xfrm>
            <a:off x="822959" y="3246120"/>
            <a:ext cx="3142488" cy="2194560"/>
          </a:xfrm>
          <a:prstGeom prst="rect">
            <a:avLst/>
          </a:prstGeom>
          <a:noFill/>
        </p:spPr>
        <p:txBody>
          <a:bodyPr wrap="square">
            <a:spAutoFit/>
          </a:bodyPr>
          <a:lstStyle/>
          <a:p>
            <a:pPr>
              <a:spcAft>
                <a:spcPts val="700"/>
              </a:spcAft>
              <a:defRPr sz="1700" b="0">
                <a:solidFill>
                  <a:srgbClr val="101923"/>
                </a:solidFill>
                <a:latin typeface="Aptos"/>
              </a:defRPr>
            </a:pPr>
            <a:r>
              <a:t>Executed agreement and W-9; active qualifying insurance.</a:t>
            </a:r>
          </a:p>
        </p:txBody>
      </p:sp>
      <p:sp>
        <p:nvSpPr>
          <p:cNvPr id="12" name="Rounded Rectangle 11"/>
          <p:cNvSpPr/>
          <p:nvPr/>
        </p:nvSpPr>
        <p:spPr>
          <a:xfrm>
            <a:off x="4349496"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9496" y="1965960"/>
            <a:ext cx="3508248" cy="100584"/>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2376"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03–04</a:t>
            </a:r>
          </a:p>
        </p:txBody>
      </p:sp>
      <p:sp>
        <p:nvSpPr>
          <p:cNvPr id="15" name="TextBox 14"/>
          <p:cNvSpPr txBox="1"/>
          <p:nvPr/>
        </p:nvSpPr>
        <p:spPr>
          <a:xfrm>
            <a:off x="4532376" y="3246120"/>
            <a:ext cx="3142488" cy="2194560"/>
          </a:xfrm>
          <a:prstGeom prst="rect">
            <a:avLst/>
          </a:prstGeom>
          <a:noFill/>
        </p:spPr>
        <p:txBody>
          <a:bodyPr wrap="square">
            <a:spAutoFit/>
          </a:bodyPr>
          <a:lstStyle/>
          <a:p>
            <a:pPr>
              <a:spcAft>
                <a:spcPts val="700"/>
              </a:spcAft>
              <a:defRPr sz="1700" b="0">
                <a:solidFill>
                  <a:srgbClr val="101923"/>
                </a:solidFill>
                <a:latin typeface="Aptos"/>
              </a:defRPr>
            </a:pPr>
            <a:r>
              <a:t>Background-screening process completed; optional TIDY kit and identification arranged.</a:t>
            </a:r>
          </a:p>
        </p:txBody>
      </p:sp>
      <p:sp>
        <p:nvSpPr>
          <p:cNvPr id="16" name="Rounded Rectangle 15"/>
          <p:cNvSpPr/>
          <p:nvPr/>
        </p:nvSpPr>
        <p:spPr>
          <a:xfrm>
            <a:off x="8058911"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8911" y="1965960"/>
            <a:ext cx="3508248" cy="100584"/>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1"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05</a:t>
            </a:r>
          </a:p>
        </p:txBody>
      </p:sp>
      <p:sp>
        <p:nvSpPr>
          <p:cNvPr id="19" name="TextBox 18"/>
          <p:cNvSpPr txBox="1"/>
          <p:nvPr/>
        </p:nvSpPr>
        <p:spPr>
          <a:xfrm>
            <a:off x="8241791" y="3246120"/>
            <a:ext cx="3142488" cy="2194560"/>
          </a:xfrm>
          <a:prstGeom prst="rect">
            <a:avLst/>
          </a:prstGeom>
          <a:noFill/>
        </p:spPr>
        <p:txBody>
          <a:bodyPr wrap="square">
            <a:spAutoFit/>
          </a:bodyPr>
          <a:lstStyle/>
          <a:p>
            <a:pPr>
              <a:spcAft>
                <a:spcPts val="700"/>
              </a:spcAft>
              <a:defRPr sz="1700" b="0">
                <a:solidFill>
                  <a:srgbClr val="101923"/>
                </a:solidFill>
                <a:latin typeface="Aptos"/>
              </a:defRPr>
            </a:pPr>
            <a:r>
              <a:t>Accepted service assignments, locations and customer access instructions confirmed.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ORIGINAL PROGRAM TERMS—CONFIRM BEFORE LAUNCH</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Insurance: protect your work</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06</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000" b="0">
                <a:solidFill>
                  <a:srgbClr val="101923"/>
                </a:solidFill>
                <a:latin typeface="Aptos"/>
              </a:defRPr>
            </a:pPr>
            <a:r>
              <a:t>Original deck specifies general liability of $1,000,000 per occurrence / $2,000,000 aggregate, with Tidy Home Concierge LLC added as Additional Insured.</a:t>
            </a:r>
          </a:p>
          <a:p>
            <a:pPr>
              <a:spcAft>
                <a:spcPts val="700"/>
              </a:spcAft>
              <a:defRPr sz="2000" b="0">
                <a:solidFill>
                  <a:srgbClr val="101923"/>
                </a:solidFill>
                <a:latin typeface="Aptos"/>
              </a:defRPr>
            </a:pPr>
          </a:p>
          <a:p>
            <a:pPr>
              <a:spcAft>
                <a:spcPts val="700"/>
              </a:spcAft>
              <a:defRPr sz="2000" b="0">
                <a:solidFill>
                  <a:srgbClr val="101923"/>
                </a:solidFill>
                <a:latin typeface="Aptos"/>
              </a:defRPr>
            </a:pPr>
            <a:r>
              <a:t>It also describes a $50/month contribution for the first three months. Verify policy wording, eligibility, actual costs, and reimbursement conditions in the signed agreement.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FFD400"/>
                </a:solidFill>
                <a:latin typeface="Aptos"/>
              </a:defRPr>
            </a:pPr>
            <a:r>
              <a:t>COPY-READY INSURANCE LANGUAGE</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FFFFFF"/>
                </a:solidFill>
                <a:latin typeface="Aptos"/>
              </a:defRPr>
            </a:pPr>
            <a:r>
              <a:t>What to request from your insurer</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07</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100" b="0">
                <a:solidFill>
                  <a:srgbClr val="FFFFFF"/>
                </a:solidFill>
                <a:latin typeface="Aptos"/>
              </a:defRPr>
            </a:pPr>
            <a:r>
              <a:t>“Please quote general liability insurance with limits of $1,000,000 per occurrence and $2,000,000 aggregate, and advise whether Tidy Home Concierge LLC can be listed as Additional Insured.”</a:t>
            </a:r>
          </a:p>
          <a:p>
            <a:pPr>
              <a:spcAft>
                <a:spcPts val="700"/>
              </a:spcAft>
              <a:defRPr sz="2100" b="0">
                <a:solidFill>
                  <a:srgbClr val="FFFFFF"/>
                </a:solidFill>
                <a:latin typeface="Aptos"/>
              </a:defRPr>
            </a:pPr>
          </a:p>
          <a:p>
            <a:pPr>
              <a:spcAft>
                <a:spcPts val="700"/>
              </a:spcAft>
              <a:defRPr sz="2100" b="0">
                <a:solidFill>
                  <a:srgbClr val="FFFFFF"/>
                </a:solidFill>
                <a:latin typeface="Aptos"/>
              </a:defRPr>
            </a:pPr>
            <a:r>
              <a:t>Submit the certificate and applicable endorsement through the approved onboarding channel. Do not start a paid visit before required coverage is confirmed.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SCREENING, PRIVACY AND PROFESSIONALISM</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Trust is earned before arrival</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08</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100" b="0">
                <a:solidFill>
                  <a:srgbClr val="101923"/>
                </a:solidFill>
                <a:latin typeface="Aptos"/>
              </a:defRPr>
            </a:pPr>
            <a:r>
              <a:t>TIDY coordinates the background-screening process described in the original deck. Do not claim to a customer that screening or insurance is current unless your status has been verified.</a:t>
            </a:r>
          </a:p>
          <a:p>
            <a:pPr>
              <a:spcAft>
                <a:spcPts val="700"/>
              </a:spcAft>
              <a:defRPr sz="2100" b="0">
                <a:solidFill>
                  <a:srgbClr val="101923"/>
                </a:solidFill>
                <a:latin typeface="Aptos"/>
              </a:defRPr>
            </a:pPr>
          </a:p>
          <a:p>
            <a:pPr>
              <a:spcAft>
                <a:spcPts val="700"/>
              </a:spcAft>
              <a:defRPr sz="2100" b="0">
                <a:solidFill>
                  <a:srgbClr val="101923"/>
                </a:solidFill>
                <a:latin typeface="Aptos"/>
              </a:defRPr>
            </a:pPr>
            <a:r>
              <a:t>Customer names, entry codes, photographs, schedules and addresses are confidential. Share them only through approved job channels.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BRAND CONSISTENCY WITHOUT CONFUSION</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Your professional kit</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09</a:t>
            </a:r>
          </a:p>
        </p:txBody>
      </p:sp>
      <p:sp>
        <p:nvSpPr>
          <p:cNvPr id="8" name="Rounded Rectangle 7"/>
          <p:cNvSpPr/>
          <p:nvPr/>
        </p:nvSpPr>
        <p:spPr>
          <a:xfrm>
            <a:off x="640080"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3508248" cy="100584"/>
          </a:xfrm>
          <a:prstGeom prst="rect">
            <a:avLst/>
          </a:prstGeom>
          <a:solidFill>
            <a:srgbClr val="087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HOUSE CLEANING</a:t>
            </a:r>
          </a:p>
        </p:txBody>
      </p:sp>
      <p:sp>
        <p:nvSpPr>
          <p:cNvPr id="11" name="TextBox 10"/>
          <p:cNvSpPr txBox="1"/>
          <p:nvPr/>
        </p:nvSpPr>
        <p:spPr>
          <a:xfrm>
            <a:off x="822959" y="3246120"/>
            <a:ext cx="3142488" cy="2194560"/>
          </a:xfrm>
          <a:prstGeom prst="rect">
            <a:avLst/>
          </a:prstGeom>
          <a:noFill/>
        </p:spPr>
        <p:txBody>
          <a:bodyPr wrap="square">
            <a:spAutoFit/>
          </a:bodyPr>
          <a:lstStyle/>
          <a:p>
            <a:pPr>
              <a:spcAft>
                <a:spcPts val="700"/>
              </a:spcAft>
              <a:defRPr sz="1700" b="0">
                <a:solidFill>
                  <a:srgbClr val="101923"/>
                </a:solidFill>
                <a:latin typeface="Aptos"/>
              </a:defRPr>
            </a:pPr>
            <a:r>
              <a:t>Original plan: navy polo with official TIDY logo.</a:t>
            </a:r>
          </a:p>
        </p:txBody>
      </p:sp>
      <p:sp>
        <p:nvSpPr>
          <p:cNvPr id="12" name="Rounded Rectangle 11"/>
          <p:cNvSpPr/>
          <p:nvPr/>
        </p:nvSpPr>
        <p:spPr>
          <a:xfrm>
            <a:off x="4349496"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9496" y="1965960"/>
            <a:ext cx="3508248" cy="100584"/>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2376"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LAWN CARE</a:t>
            </a:r>
          </a:p>
        </p:txBody>
      </p:sp>
      <p:sp>
        <p:nvSpPr>
          <p:cNvPr id="15" name="TextBox 14"/>
          <p:cNvSpPr txBox="1"/>
          <p:nvPr/>
        </p:nvSpPr>
        <p:spPr>
          <a:xfrm>
            <a:off x="4532376" y="3246120"/>
            <a:ext cx="3142488" cy="2194560"/>
          </a:xfrm>
          <a:prstGeom prst="rect">
            <a:avLst/>
          </a:prstGeom>
          <a:noFill/>
        </p:spPr>
        <p:txBody>
          <a:bodyPr wrap="square">
            <a:spAutoFit/>
          </a:bodyPr>
          <a:lstStyle/>
          <a:p>
            <a:pPr>
              <a:spcAft>
                <a:spcPts val="700"/>
              </a:spcAft>
              <a:defRPr sz="1700" b="0">
                <a:solidFill>
                  <a:srgbClr val="101923"/>
                </a:solidFill>
                <a:latin typeface="Aptos"/>
              </a:defRPr>
            </a:pPr>
            <a:r>
              <a:t>Original plan: navy tee and high-visibility vest.</a:t>
            </a:r>
          </a:p>
        </p:txBody>
      </p:sp>
      <p:sp>
        <p:nvSpPr>
          <p:cNvPr id="16" name="Rounded Rectangle 15"/>
          <p:cNvSpPr/>
          <p:nvPr/>
        </p:nvSpPr>
        <p:spPr>
          <a:xfrm>
            <a:off x="8058911"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8911" y="1965960"/>
            <a:ext cx="3508248" cy="100584"/>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1"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CAR CARE</a:t>
            </a:r>
          </a:p>
        </p:txBody>
      </p:sp>
      <p:sp>
        <p:nvSpPr>
          <p:cNvPr id="19" name="TextBox 18"/>
          <p:cNvSpPr txBox="1"/>
          <p:nvPr/>
        </p:nvSpPr>
        <p:spPr>
          <a:xfrm>
            <a:off x="8241791" y="3246120"/>
            <a:ext cx="3142488" cy="2194560"/>
          </a:xfrm>
          <a:prstGeom prst="rect">
            <a:avLst/>
          </a:prstGeom>
          <a:noFill/>
        </p:spPr>
        <p:txBody>
          <a:bodyPr wrap="square">
            <a:spAutoFit/>
          </a:bodyPr>
          <a:lstStyle/>
          <a:p>
            <a:pPr>
              <a:spcAft>
                <a:spcPts val="700"/>
              </a:spcAft>
              <a:defRPr sz="1700" b="0">
                <a:solidFill>
                  <a:srgbClr val="101923"/>
                </a:solidFill>
                <a:latin typeface="Aptos"/>
              </a:defRPr>
            </a:pPr>
            <a:r>
              <a:t>Original plan: navy tee; badge design for customer identification.</a:t>
            </a:r>
          </a:p>
        </p:txBody>
      </p:sp>
      <p:sp>
        <p:nvSpPr>
          <p:cNvPr id="20" name="Rectangle 19"/>
          <p:cNvSpPr/>
          <p:nvPr/>
        </p:nvSpPr>
        <p:spPr>
          <a:xfrm>
            <a:off x="640080" y="6053328"/>
            <a:ext cx="10927080" cy="31089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6099048"/>
            <a:ext cx="10607040" cy="228600"/>
          </a:xfrm>
          <a:prstGeom prst="rect">
            <a:avLst/>
          </a:prstGeom>
          <a:noFill/>
        </p:spPr>
        <p:txBody>
          <a:bodyPr wrap="square">
            <a:spAutoFit/>
          </a:bodyPr>
          <a:lstStyle/>
          <a:p>
            <a:pPr>
              <a:spcAft>
                <a:spcPts val="700"/>
              </a:spcAft>
              <a:defRPr sz="1100" b="1">
                <a:solidFill>
                  <a:srgbClr val="101923"/>
                </a:solidFill>
                <a:latin typeface="Aptos"/>
              </a:defRPr>
            </a:pPr>
            <a:r>
              <a:t>The original deck says branded apparel is optional; confirm final kit, quantities and badge wording.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FFD400"/>
                </a:solidFill>
                <a:latin typeface="Aptos"/>
              </a:defRPr>
            </a:pPr>
            <a:r>
              <a:t>LAUNCH NEIGHBORHOODS</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FFFFFF"/>
                </a:solidFill>
                <a:latin typeface="Aptos"/>
              </a:defRPr>
            </a:pPr>
            <a:r>
              <a:t>Your territory, your consistency</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10</a:t>
            </a:r>
          </a:p>
        </p:txBody>
      </p:sp>
      <p:sp>
        <p:nvSpPr>
          <p:cNvPr id="8" name="Rounded Rectangle 7"/>
          <p:cNvSpPr/>
          <p:nvPr/>
        </p:nvSpPr>
        <p:spPr>
          <a:xfrm>
            <a:off x="640080"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3508248" cy="100584"/>
          </a:xfrm>
          <a:prstGeom prst="rect">
            <a:avLst/>
          </a:prstGeom>
          <a:solidFill>
            <a:srgbClr val="087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33156</a:t>
            </a:r>
          </a:p>
        </p:txBody>
      </p:sp>
      <p:sp>
        <p:nvSpPr>
          <p:cNvPr id="11" name="TextBox 10"/>
          <p:cNvSpPr txBox="1"/>
          <p:nvPr/>
        </p:nvSpPr>
        <p:spPr>
          <a:xfrm>
            <a:off x="822959" y="3246120"/>
            <a:ext cx="3142488" cy="2194560"/>
          </a:xfrm>
          <a:prstGeom prst="rect">
            <a:avLst/>
          </a:prstGeom>
          <a:noFill/>
        </p:spPr>
        <p:txBody>
          <a:bodyPr wrap="square">
            <a:spAutoFit/>
          </a:bodyPr>
          <a:lstStyle/>
          <a:p>
            <a:pPr>
              <a:spcAft>
                <a:spcPts val="700"/>
              </a:spcAft>
              <a:defRPr sz="2400" b="0">
                <a:solidFill>
                  <a:srgbClr val="101923"/>
                </a:solidFill>
                <a:latin typeface="Aptos"/>
              </a:defRPr>
            </a:pPr>
            <a:r>
              <a:t>Pinecrest</a:t>
            </a:r>
          </a:p>
        </p:txBody>
      </p:sp>
      <p:sp>
        <p:nvSpPr>
          <p:cNvPr id="12" name="Rounded Rectangle 11"/>
          <p:cNvSpPr/>
          <p:nvPr/>
        </p:nvSpPr>
        <p:spPr>
          <a:xfrm>
            <a:off x="4349496"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9496" y="1965960"/>
            <a:ext cx="3508248" cy="100584"/>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2376"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33183</a:t>
            </a:r>
          </a:p>
        </p:txBody>
      </p:sp>
      <p:sp>
        <p:nvSpPr>
          <p:cNvPr id="15" name="TextBox 14"/>
          <p:cNvSpPr txBox="1"/>
          <p:nvPr/>
        </p:nvSpPr>
        <p:spPr>
          <a:xfrm>
            <a:off x="4532376" y="3246120"/>
            <a:ext cx="3142488" cy="2194560"/>
          </a:xfrm>
          <a:prstGeom prst="rect">
            <a:avLst/>
          </a:prstGeom>
          <a:noFill/>
        </p:spPr>
        <p:txBody>
          <a:bodyPr wrap="square">
            <a:spAutoFit/>
          </a:bodyPr>
          <a:lstStyle/>
          <a:p>
            <a:pPr>
              <a:spcAft>
                <a:spcPts val="700"/>
              </a:spcAft>
              <a:defRPr sz="2400" b="0">
                <a:solidFill>
                  <a:srgbClr val="101923"/>
                </a:solidFill>
                <a:latin typeface="Aptos"/>
              </a:defRPr>
            </a:pPr>
            <a:r>
              <a:t>Kendall</a:t>
            </a:r>
          </a:p>
        </p:txBody>
      </p:sp>
      <p:sp>
        <p:nvSpPr>
          <p:cNvPr id="16" name="Rounded Rectangle 15"/>
          <p:cNvSpPr/>
          <p:nvPr/>
        </p:nvSpPr>
        <p:spPr>
          <a:xfrm>
            <a:off x="8058911"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8911" y="1965960"/>
            <a:ext cx="3508248" cy="100584"/>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1"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33186</a:t>
            </a:r>
          </a:p>
        </p:txBody>
      </p:sp>
      <p:sp>
        <p:nvSpPr>
          <p:cNvPr id="19" name="TextBox 18"/>
          <p:cNvSpPr txBox="1"/>
          <p:nvPr/>
        </p:nvSpPr>
        <p:spPr>
          <a:xfrm>
            <a:off x="8241791" y="3246120"/>
            <a:ext cx="3142488" cy="2194560"/>
          </a:xfrm>
          <a:prstGeom prst="rect">
            <a:avLst/>
          </a:prstGeom>
          <a:noFill/>
        </p:spPr>
        <p:txBody>
          <a:bodyPr wrap="square">
            <a:spAutoFit/>
          </a:bodyPr>
          <a:lstStyle/>
          <a:p>
            <a:pPr>
              <a:spcAft>
                <a:spcPts val="700"/>
              </a:spcAft>
              <a:defRPr sz="2400" b="0">
                <a:solidFill>
                  <a:srgbClr val="101923"/>
                </a:solidFill>
                <a:latin typeface="Aptos"/>
              </a:defRPr>
            </a:pPr>
            <a:r>
              <a:t>Kendall West</a:t>
            </a:r>
          </a:p>
        </p:txBody>
      </p:sp>
      <p:sp>
        <p:nvSpPr>
          <p:cNvPr id="20" name="Rectangle 19"/>
          <p:cNvSpPr/>
          <p:nvPr/>
        </p:nvSpPr>
        <p:spPr>
          <a:xfrm>
            <a:off x="640080" y="6053328"/>
            <a:ext cx="10927080" cy="31089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6099048"/>
            <a:ext cx="10607040" cy="228600"/>
          </a:xfrm>
          <a:prstGeom prst="rect">
            <a:avLst/>
          </a:prstGeom>
          <a:noFill/>
        </p:spPr>
        <p:txBody>
          <a:bodyPr wrap="square">
            <a:spAutoFit/>
          </a:bodyPr>
          <a:lstStyle/>
          <a:p>
            <a:pPr>
              <a:spcAft>
                <a:spcPts val="700"/>
              </a:spcAft>
              <a:defRPr sz="1100" b="1">
                <a:solidFill>
                  <a:srgbClr val="101923"/>
                </a:solidFill>
                <a:latin typeface="Aptos"/>
              </a:defRPr>
            </a:pPr>
            <a:r>
              <a:t>Original deck references Nov 9–13 route confirmation and Nov 16 first visits: reconfirm dates.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PER COMPLETED VISIT—NOT AN HOURLY WAGE</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How payment works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11</a:t>
            </a:r>
          </a:p>
        </p:txBody>
      </p:sp>
      <p:sp>
        <p:nvSpPr>
          <p:cNvPr id="8" name="Rounded Rectangle 7"/>
          <p:cNvSpPr/>
          <p:nvPr/>
        </p:nvSpPr>
        <p:spPr>
          <a:xfrm>
            <a:off x="640080"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3508248" cy="100584"/>
          </a:xfrm>
          <a:prstGeom prst="rect">
            <a:avLst/>
          </a:prstGeom>
          <a:solidFill>
            <a:srgbClr val="087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CLEANING</a:t>
            </a:r>
          </a:p>
        </p:txBody>
      </p:sp>
      <p:sp>
        <p:nvSpPr>
          <p:cNvPr id="11" name="TextBox 10"/>
          <p:cNvSpPr txBox="1"/>
          <p:nvPr/>
        </p:nvSpPr>
        <p:spPr>
          <a:xfrm>
            <a:off x="822959"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$56 up to 2 bedrooms</a:t>
            </a:r>
          </a:p>
          <a:p>
            <a:pPr>
              <a:spcAft>
                <a:spcPts val="700"/>
              </a:spcAft>
              <a:defRPr sz="1600" b="0">
                <a:solidFill>
                  <a:srgbClr val="101923"/>
                </a:solidFill>
                <a:latin typeface="Aptos"/>
              </a:defRPr>
            </a:pPr>
            <a:r>
              <a:t>$76 for 3 bedrooms</a:t>
            </a:r>
          </a:p>
          <a:p>
            <a:pPr>
              <a:spcAft>
                <a:spcPts val="700"/>
              </a:spcAft>
              <a:defRPr sz="1600" b="0">
                <a:solidFill>
                  <a:srgbClr val="101923"/>
                </a:solidFill>
                <a:latin typeface="Aptos"/>
              </a:defRPr>
            </a:pPr>
            <a:r>
              <a:t>$112 for 4 bedrooms</a:t>
            </a:r>
          </a:p>
        </p:txBody>
      </p:sp>
      <p:sp>
        <p:nvSpPr>
          <p:cNvPr id="12" name="Rounded Rectangle 11"/>
          <p:cNvSpPr/>
          <p:nvPr/>
        </p:nvSpPr>
        <p:spPr>
          <a:xfrm>
            <a:off x="4349496"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9496" y="1965960"/>
            <a:ext cx="3508248" cy="100584"/>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2376"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LAWN</a:t>
            </a:r>
          </a:p>
        </p:txBody>
      </p:sp>
      <p:sp>
        <p:nvSpPr>
          <p:cNvPr id="15" name="TextBox 14"/>
          <p:cNvSpPr txBox="1"/>
          <p:nvPr/>
        </p:nvSpPr>
        <p:spPr>
          <a:xfrm>
            <a:off x="4532376"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$18 small yard</a:t>
            </a:r>
          </a:p>
          <a:p>
            <a:pPr>
              <a:spcAft>
                <a:spcPts val="700"/>
              </a:spcAft>
              <a:defRPr sz="1600" b="0">
                <a:solidFill>
                  <a:srgbClr val="101923"/>
                </a:solidFill>
                <a:latin typeface="Aptos"/>
              </a:defRPr>
            </a:pPr>
            <a:r>
              <a:t>$26 standard yard</a:t>
            </a:r>
          </a:p>
          <a:p>
            <a:pPr>
              <a:spcAft>
                <a:spcPts val="700"/>
              </a:spcAft>
              <a:defRPr sz="1600" b="0">
                <a:solidFill>
                  <a:srgbClr val="101923"/>
                </a:solidFill>
                <a:latin typeface="Aptos"/>
              </a:defRPr>
            </a:pPr>
            <a:r>
              <a:t>$40 large yard</a:t>
            </a:r>
          </a:p>
        </p:txBody>
      </p:sp>
      <p:sp>
        <p:nvSpPr>
          <p:cNvPr id="16" name="Rounded Rectangle 15"/>
          <p:cNvSpPr/>
          <p:nvPr/>
        </p:nvSpPr>
        <p:spPr>
          <a:xfrm>
            <a:off x="8058911"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8911" y="1965960"/>
            <a:ext cx="3508248" cy="100584"/>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1"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CAR</a:t>
            </a:r>
          </a:p>
        </p:txBody>
      </p:sp>
      <p:sp>
        <p:nvSpPr>
          <p:cNvPr id="19" name="TextBox 18"/>
          <p:cNvSpPr txBox="1"/>
          <p:nvPr/>
        </p:nvSpPr>
        <p:spPr>
          <a:xfrm>
            <a:off x="8241791"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$16 / $20 / $26 wash: sedan / SUV / truck</a:t>
            </a:r>
          </a:p>
          <a:p>
            <a:pPr>
              <a:spcAft>
                <a:spcPts val="700"/>
              </a:spcAft>
              <a:defRPr sz="1600" b="0">
                <a:solidFill>
                  <a:srgbClr val="101923"/>
                </a:solidFill>
                <a:latin typeface="Aptos"/>
              </a:defRPr>
            </a:pPr>
            <a:r>
              <a:t>$78 / $88 / $115 full detail</a:t>
            </a:r>
          </a:p>
        </p:txBody>
      </p:sp>
      <p:sp>
        <p:nvSpPr>
          <p:cNvPr id="20" name="Rectangle 19"/>
          <p:cNvSpPr/>
          <p:nvPr/>
        </p:nvSpPr>
        <p:spPr>
          <a:xfrm>
            <a:off x="640080" y="6053328"/>
            <a:ext cx="10927080" cy="31089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6099048"/>
            <a:ext cx="10607040" cy="228600"/>
          </a:xfrm>
          <a:prstGeom prst="rect">
            <a:avLst/>
          </a:prstGeom>
          <a:noFill/>
        </p:spPr>
        <p:txBody>
          <a:bodyPr wrap="square">
            <a:spAutoFit/>
          </a:bodyPr>
          <a:lstStyle/>
          <a:p>
            <a:pPr>
              <a:spcAft>
                <a:spcPts val="700"/>
              </a:spcAft>
              <a:defRPr sz="1100" b="1">
                <a:solidFill>
                  <a:srgbClr val="101923"/>
                </a:solidFill>
                <a:latin typeface="Aptos"/>
              </a:defRPr>
            </a:pPr>
            <a:r>
              <a:t>Rates reproduced from original deck; verify current schedule and scope before publication.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ONLY WHEN AUTHORIZED AND COMPLETED</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Additional earning opportunities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12</a:t>
            </a:r>
          </a:p>
        </p:txBody>
      </p:sp>
      <p:sp>
        <p:nvSpPr>
          <p:cNvPr id="8" name="Rounded Rectangle 7"/>
          <p:cNvSpPr/>
          <p:nvPr/>
        </p:nvSpPr>
        <p:spPr>
          <a:xfrm>
            <a:off x="640080"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3508248" cy="100584"/>
          </a:xfrm>
          <a:prstGeom prst="rect">
            <a:avLst/>
          </a:prstGeom>
          <a:solidFill>
            <a:srgbClr val="087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ADD-ONS</a:t>
            </a:r>
          </a:p>
        </p:txBody>
      </p:sp>
      <p:sp>
        <p:nvSpPr>
          <p:cNvPr id="11" name="TextBox 10"/>
          <p:cNvSpPr txBox="1"/>
          <p:nvPr/>
        </p:nvSpPr>
        <p:spPr>
          <a:xfrm>
            <a:off x="822959"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Original deck: 40% of the price of each completed, approved add-on.</a:t>
            </a:r>
          </a:p>
        </p:txBody>
      </p:sp>
      <p:sp>
        <p:nvSpPr>
          <p:cNvPr id="12" name="Rounded Rectangle 11"/>
          <p:cNvSpPr/>
          <p:nvPr/>
        </p:nvSpPr>
        <p:spPr>
          <a:xfrm>
            <a:off x="4349496"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9496" y="1965960"/>
            <a:ext cx="3508248" cy="100584"/>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2376"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RECOGNITION</a:t>
            </a:r>
          </a:p>
        </p:txBody>
      </p:sp>
      <p:sp>
        <p:nvSpPr>
          <p:cNvPr id="15" name="TextBox 14"/>
          <p:cNvSpPr txBox="1"/>
          <p:nvPr/>
        </p:nvSpPr>
        <p:spPr>
          <a:xfrm>
            <a:off x="4532376"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Original deck: $25 for a named five-star review; review incentive terms require policy review.</a:t>
            </a:r>
          </a:p>
        </p:txBody>
      </p:sp>
      <p:sp>
        <p:nvSpPr>
          <p:cNvPr id="16" name="Rounded Rectangle 15"/>
          <p:cNvSpPr/>
          <p:nvPr/>
        </p:nvSpPr>
        <p:spPr>
          <a:xfrm>
            <a:off x="8058911"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8911" y="1965960"/>
            <a:ext cx="3508248" cy="100584"/>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1"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MILESTONES</a:t>
            </a:r>
          </a:p>
        </p:txBody>
      </p:sp>
      <p:sp>
        <p:nvSpPr>
          <p:cNvPr id="19" name="TextBox 18"/>
          <p:cNvSpPr txBox="1"/>
          <p:nvPr/>
        </p:nvSpPr>
        <p:spPr>
          <a:xfrm>
            <a:off x="8241791"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Original deck: +10% after 50 visits, 4.8 rating and 60 days; conditions require confirmation.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THE COMPLETE CUSTOMER JOURNEY</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Every visit has six checkpoints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13</a:t>
            </a:r>
          </a:p>
        </p:txBody>
      </p:sp>
      <p:sp>
        <p:nvSpPr>
          <p:cNvPr id="8" name="Rounded Rectangle 7"/>
          <p:cNvSpPr/>
          <p:nvPr/>
        </p:nvSpPr>
        <p:spPr>
          <a:xfrm>
            <a:off x="640080"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3508248" cy="100584"/>
          </a:xfrm>
          <a:prstGeom prst="rect">
            <a:avLst/>
          </a:prstGeom>
          <a:solidFill>
            <a:srgbClr val="087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BEFORE</a:t>
            </a:r>
          </a:p>
        </p:txBody>
      </p:sp>
      <p:sp>
        <p:nvSpPr>
          <p:cNvPr id="11" name="TextBox 10"/>
          <p:cNvSpPr txBox="1"/>
          <p:nvPr/>
        </p:nvSpPr>
        <p:spPr>
          <a:xfrm>
            <a:off x="822959" y="3246120"/>
            <a:ext cx="3142488" cy="2194560"/>
          </a:xfrm>
          <a:prstGeom prst="rect">
            <a:avLst/>
          </a:prstGeom>
          <a:noFill/>
        </p:spPr>
        <p:txBody>
          <a:bodyPr wrap="square">
            <a:spAutoFit/>
          </a:bodyPr>
          <a:lstStyle/>
          <a:p>
            <a:pPr>
              <a:spcAft>
                <a:spcPts val="700"/>
              </a:spcAft>
              <a:defRPr sz="1800" b="0">
                <a:solidFill>
                  <a:srgbClr val="101923"/>
                </a:solidFill>
                <a:latin typeface="Aptos"/>
              </a:defRPr>
            </a:pPr>
            <a:r>
              <a:t>Review accepted job card, scope, access instructions and arrival window.</a:t>
            </a:r>
          </a:p>
        </p:txBody>
      </p:sp>
      <p:sp>
        <p:nvSpPr>
          <p:cNvPr id="12" name="Rounded Rectangle 11"/>
          <p:cNvSpPr/>
          <p:nvPr/>
        </p:nvSpPr>
        <p:spPr>
          <a:xfrm>
            <a:off x="4349496"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9496" y="1965960"/>
            <a:ext cx="3508248" cy="100584"/>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2376"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ON SITE</a:t>
            </a:r>
          </a:p>
        </p:txBody>
      </p:sp>
      <p:sp>
        <p:nvSpPr>
          <p:cNvPr id="15" name="TextBox 14"/>
          <p:cNvSpPr txBox="1"/>
          <p:nvPr/>
        </p:nvSpPr>
        <p:spPr>
          <a:xfrm>
            <a:off x="4532376" y="3246120"/>
            <a:ext cx="3142488" cy="2194560"/>
          </a:xfrm>
          <a:prstGeom prst="rect">
            <a:avLst/>
          </a:prstGeom>
          <a:noFill/>
        </p:spPr>
        <p:txBody>
          <a:bodyPr wrap="square">
            <a:spAutoFit/>
          </a:bodyPr>
          <a:lstStyle/>
          <a:p>
            <a:pPr>
              <a:spcAft>
                <a:spcPts val="700"/>
              </a:spcAft>
              <a:defRPr sz="1800" b="0">
                <a:solidFill>
                  <a:srgbClr val="101923"/>
                </a:solidFill>
                <a:latin typeface="Aptos"/>
              </a:defRPr>
            </a:pPr>
            <a:r>
              <a:t>Arrive, identify yourself, protect the property and complete the agreed scope.</a:t>
            </a:r>
          </a:p>
        </p:txBody>
      </p:sp>
      <p:sp>
        <p:nvSpPr>
          <p:cNvPr id="16" name="Rounded Rectangle 15"/>
          <p:cNvSpPr/>
          <p:nvPr/>
        </p:nvSpPr>
        <p:spPr>
          <a:xfrm>
            <a:off x="8058911"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8911" y="1965960"/>
            <a:ext cx="3508248" cy="100584"/>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1"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AFTER</a:t>
            </a:r>
          </a:p>
        </p:txBody>
      </p:sp>
      <p:sp>
        <p:nvSpPr>
          <p:cNvPr id="19" name="TextBox 18"/>
          <p:cNvSpPr txBox="1"/>
          <p:nvPr/>
        </p:nvSpPr>
        <p:spPr>
          <a:xfrm>
            <a:off x="8241791" y="3246120"/>
            <a:ext cx="3142488" cy="2194560"/>
          </a:xfrm>
          <a:prstGeom prst="rect">
            <a:avLst/>
          </a:prstGeom>
          <a:noFill/>
        </p:spPr>
        <p:txBody>
          <a:bodyPr wrap="square">
            <a:spAutoFit/>
          </a:bodyPr>
          <a:lstStyle/>
          <a:p>
            <a:pPr>
              <a:spcAft>
                <a:spcPts val="700"/>
              </a:spcAft>
              <a:defRPr sz="1800" b="0">
                <a:solidFill>
                  <a:srgbClr val="101923"/>
                </a:solidFill>
                <a:latin typeface="Aptos"/>
              </a:defRPr>
            </a:pPr>
            <a:r>
              <a:t>Inspect, capture required photos, close out the visit and report exceptions.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PREPARE WITHOUT SURPRISES</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Before leaving for the property</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14</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100" b="0">
                <a:solidFill>
                  <a:srgbClr val="101923"/>
                </a:solidFill>
                <a:latin typeface="Aptos"/>
              </a:defRPr>
            </a:pPr>
            <a:r>
              <a:t>1  Confirm the assignment and service type.</a:t>
            </a:r>
          </a:p>
          <a:p>
            <a:pPr>
              <a:spcAft>
                <a:spcPts val="700"/>
              </a:spcAft>
              <a:defRPr sz="2100" b="0">
                <a:solidFill>
                  <a:srgbClr val="101923"/>
                </a:solidFill>
                <a:latin typeface="Aptos"/>
              </a:defRPr>
            </a:pPr>
            <a:r>
              <a:t>2  Review the exact booked scope, approved add-ons, access notes, pets and parking.</a:t>
            </a:r>
          </a:p>
          <a:p>
            <a:pPr>
              <a:spcAft>
                <a:spcPts val="700"/>
              </a:spcAft>
              <a:defRPr sz="2100" b="0">
                <a:solidFill>
                  <a:srgbClr val="101923"/>
                </a:solidFill>
                <a:latin typeface="Aptos"/>
              </a:defRPr>
            </a:pPr>
            <a:r>
              <a:t>3  Check that equipment, materials and safety supplies suit the job.</a:t>
            </a:r>
          </a:p>
          <a:p>
            <a:pPr>
              <a:spcAft>
                <a:spcPts val="700"/>
              </a:spcAft>
              <a:defRPr sz="2100" b="0">
                <a:solidFill>
                  <a:srgbClr val="101923"/>
                </a:solidFill>
                <a:latin typeface="Aptos"/>
              </a:defRPr>
            </a:pPr>
            <a:r>
              <a:t>4  Flag access or scheduling concerns promptly through the approved channel.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PROFESSIONAL CUSTOMER INTERACTION</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At the door: first impressions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15</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ARRIVAL-R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Introduce yourself, verify the correct address and booked service, protect floors and confirm access instructions.</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ARRIVAL-W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Arrive without identifying yourself, enter an unapproved area, or start work without checking the job card.</a:t>
            </a:r>
          </a:p>
        </p:txBody>
      </p:sp>
      <p:sp>
        <p:nvSpPr>
          <p:cNvPr id="20" name="Rectangle 19"/>
          <p:cNvSpPr/>
          <p:nvPr/>
        </p:nvSpPr>
        <p:spPr>
          <a:xfrm>
            <a:off x="640080" y="6053328"/>
            <a:ext cx="10927080" cy="31089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6099048"/>
            <a:ext cx="10607040" cy="228600"/>
          </a:xfrm>
          <a:prstGeom prst="rect">
            <a:avLst/>
          </a:prstGeom>
          <a:noFill/>
        </p:spPr>
        <p:txBody>
          <a:bodyPr wrap="square">
            <a:spAutoFit/>
          </a:bodyPr>
          <a:lstStyle/>
          <a:p>
            <a:pPr>
              <a:spcAft>
                <a:spcPts val="700"/>
              </a:spcAft>
              <a:defRPr sz="1100" b="1">
                <a:solidFill>
                  <a:srgbClr val="101923"/>
                </a:solidFill>
                <a:latin typeface="Aptos"/>
              </a:defRPr>
            </a:pPr>
            <a:r>
              <a:t>Visual: matched doorway scene, professional posture and footwear / floor protection.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KNOW WHAT IS—AND IS NOT—BOOKED</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House cleaning: included scope</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16</a:t>
            </a:r>
          </a:p>
        </p:txBody>
      </p:sp>
      <p:sp>
        <p:nvSpPr>
          <p:cNvPr id="8" name="Rounded Rectangle 7"/>
          <p:cNvSpPr/>
          <p:nvPr/>
        </p:nvSpPr>
        <p:spPr>
          <a:xfrm>
            <a:off x="640080"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3508248" cy="100584"/>
          </a:xfrm>
          <a:prstGeom prst="rect">
            <a:avLst/>
          </a:prstGeom>
          <a:solidFill>
            <a:srgbClr val="087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KITCHEN</a:t>
            </a:r>
          </a:p>
        </p:txBody>
      </p:sp>
      <p:sp>
        <p:nvSpPr>
          <p:cNvPr id="11" name="TextBox 10"/>
          <p:cNvSpPr txBox="1"/>
          <p:nvPr/>
        </p:nvSpPr>
        <p:spPr>
          <a:xfrm>
            <a:off x="822959"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Counters, sink, stovetop, appliance exteriors and floors.</a:t>
            </a:r>
          </a:p>
        </p:txBody>
      </p:sp>
      <p:sp>
        <p:nvSpPr>
          <p:cNvPr id="12" name="Rounded Rectangle 11"/>
          <p:cNvSpPr/>
          <p:nvPr/>
        </p:nvSpPr>
        <p:spPr>
          <a:xfrm>
            <a:off x="4349496"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9496" y="1965960"/>
            <a:ext cx="3508248" cy="100584"/>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2376"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BATHROOM</a:t>
            </a:r>
          </a:p>
        </p:txBody>
      </p:sp>
      <p:sp>
        <p:nvSpPr>
          <p:cNvPr id="15" name="TextBox 14"/>
          <p:cNvSpPr txBox="1"/>
          <p:nvPr/>
        </p:nvSpPr>
        <p:spPr>
          <a:xfrm>
            <a:off x="4532376"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Toilet, shower/tub, sink, mirrors and floors.</a:t>
            </a:r>
          </a:p>
        </p:txBody>
      </p:sp>
      <p:sp>
        <p:nvSpPr>
          <p:cNvPr id="16" name="Rounded Rectangle 15"/>
          <p:cNvSpPr/>
          <p:nvPr/>
        </p:nvSpPr>
        <p:spPr>
          <a:xfrm>
            <a:off x="8058911"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8911" y="1965960"/>
            <a:ext cx="3508248" cy="100584"/>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1"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EVERY ROOM</a:t>
            </a:r>
          </a:p>
        </p:txBody>
      </p:sp>
      <p:sp>
        <p:nvSpPr>
          <p:cNvPr id="19" name="TextBox 18"/>
          <p:cNvSpPr txBox="1"/>
          <p:nvPr/>
        </p:nvSpPr>
        <p:spPr>
          <a:xfrm>
            <a:off x="8241791"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Reachable dusting, vacuuming, hard floors, bed-making and trash removal per booked scope.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THE DIFFERENCE IS IN THE EDGES</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Kitchen: counters and sink</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17</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K1-R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Dry counter, no backsplash crumbs, sink and faucet free of spots, items returned neatly.</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K1-W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Crumbs along backsplash, wet fixtures, sticky residue and objects moved carelessly.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A FINISHED SURFACE LOOKS FINISHED</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Kitchen: cooktop and appliances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18</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K2-R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Clean grates and surface, no residue rings; exterior stainless buffed dry with the grain.</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K2-W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Burner residue remains; fingerprints and cloudy streaks remain on appliance fronts.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LOOK WHERE SOAP FILM HIDES</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Bathroom: shower and glass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19</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B1-R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Glass clear at bottom corners and track; drain clear; products replaced neatly.</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B1-W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Cloudy lower glass, hair in drain, bottles left displaced.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CLEAN THE DETAILS CUSTOMERS INSPECT</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Bathroom: toilet, sink and mirror</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20</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B2-R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Seat hinges, rim, base and bolt caps clean; sink dry; mirror streak-free.</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B2-W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Dust at toilet base, toothpaste residue, fingerprints or streaked mirror.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THE PERIMETER COUNTS</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Floors and edges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21</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F1-R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Vacuum or mop to corners and baseboards; even finish with no debris.</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F1-W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Center looks clean but debris lines remain along edges and behind doors.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LEAVE THE HOME BETTER—NOT REARRANGED</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Dusting and final presentation</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22</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F2-R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Surfaces free of dust rings; objects returned; bed tidy; trash removed and relined as booked.</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F2-W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Dust around objects, rearranged personal belongings or an unlined bin.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CLEAR BOUNDARIES PROTECT EVERYONE</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Cleaning add-ons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23</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100" b="0">
                <a:solidFill>
                  <a:srgbClr val="101923"/>
                </a:solidFill>
                <a:latin typeface="Aptos"/>
              </a:defRPr>
            </a:pPr>
            <a:r>
              <a:t>Original deck lists: inside oven $45; inside refrigerator $35; interior windows $55; baseboard deep scrub $35; inside kitchen cabinets $50.</a:t>
            </a:r>
          </a:p>
          <a:p>
            <a:pPr>
              <a:spcAft>
                <a:spcPts val="700"/>
              </a:spcAft>
              <a:defRPr sz="2100" b="0">
                <a:solidFill>
                  <a:srgbClr val="101923"/>
                </a:solidFill>
                <a:latin typeface="Aptos"/>
              </a:defRPr>
            </a:pPr>
          </a:p>
          <a:p>
            <a:pPr>
              <a:spcAft>
                <a:spcPts val="700"/>
              </a:spcAft>
              <a:defRPr sz="2100" b="0">
                <a:solidFill>
                  <a:srgbClr val="101923"/>
                </a:solidFill>
                <a:latin typeface="Aptos"/>
              </a:defRPr>
            </a:pPr>
            <a:r>
              <a:t>Do not silently expand the scope. When a customer requests additional work, direct them to the approved booking/authorization process before proceeding.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A COMPLETE EXTERIOR SERVICE</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Lawn care: the booked result</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24</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000" b="0">
                <a:solidFill>
                  <a:srgbClr val="101923"/>
                </a:solidFill>
                <a:latin typeface="Aptos"/>
              </a:defRPr>
            </a:pPr>
            <a:r>
              <a:t>Original standard: mow lawn at a consistent height; edge driveways, walks and beds; line-trim fences, posts, trees and A/C pads; blow hard surfaces; remove visible debris; close and latch any gates used.</a:t>
            </a:r>
          </a:p>
          <a:p>
            <a:pPr>
              <a:spcAft>
                <a:spcPts val="700"/>
              </a:spcAft>
              <a:defRPr sz="2000" b="0">
                <a:solidFill>
                  <a:srgbClr val="101923"/>
                </a:solidFill>
                <a:latin typeface="Aptos"/>
              </a:defRPr>
            </a:pPr>
          </a:p>
          <a:p>
            <a:pPr>
              <a:spcAft>
                <a:spcPts val="700"/>
              </a:spcAft>
              <a:defRPr sz="2000" b="0">
                <a:solidFill>
                  <a:srgbClr val="101923"/>
                </a:solidFill>
                <a:latin typeface="Aptos"/>
              </a:defRPr>
            </a:pPr>
            <a:r>
              <a:t>Service-specific add-ons must be approved separately.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CONSISTENCY IS VISIBLE FROM THE STREET</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The cut</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25</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L1-R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Even grass height, orderly passes, no clumps or missed strips.</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L1-W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Scalped patch, uneven rows, uncut strip or clippings left on turf.</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PRECISION IS PART OF THE PRODUCT</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The edge</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26</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L2-R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Continuous crisp line along walkway, curb and driveway; no overgrowth on concrete.</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L2-W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Wavy, incomplete edging; grass creeping over pavement.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ACCURACY OVER SPEED</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Trim without damaging property</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27</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L3-R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Grass trimmed evenly around posts, beds and A/C pads without scarring surfaces.</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L3-W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Tall tufts remain or trimmer line damages posts, bark or equipment.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THE GATE IS PART OF THE JOB</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Finish the entire property</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28</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L4-R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Driveway and paths free of clippings; debris handled; gate fully closed and latched.</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L4-W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Clippings remain on pavement or street; gate left open.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SELL ONLY THE BOOKED SCOPE</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Car care: wash versus detail</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29</a:t>
            </a:r>
          </a:p>
        </p:txBody>
      </p:sp>
      <p:sp>
        <p:nvSpPr>
          <p:cNvPr id="8" name="Rounded Rectangle 7"/>
          <p:cNvSpPr/>
          <p:nvPr/>
        </p:nvSpPr>
        <p:spPr>
          <a:xfrm>
            <a:off x="640080"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3508248" cy="100584"/>
          </a:xfrm>
          <a:prstGeom prst="rect">
            <a:avLst/>
          </a:prstGeom>
          <a:solidFill>
            <a:srgbClr val="087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MAINTENANCE WASH</a:t>
            </a:r>
          </a:p>
        </p:txBody>
      </p:sp>
      <p:sp>
        <p:nvSpPr>
          <p:cNvPr id="11" name="TextBox 10"/>
          <p:cNvSpPr txBox="1"/>
          <p:nvPr/>
        </p:nvSpPr>
        <p:spPr>
          <a:xfrm>
            <a:off x="822959" y="3246120"/>
            <a:ext cx="3142488" cy="2194560"/>
          </a:xfrm>
          <a:prstGeom prst="rect">
            <a:avLst/>
          </a:prstGeom>
          <a:noFill/>
        </p:spPr>
        <p:txBody>
          <a:bodyPr wrap="square">
            <a:spAutoFit/>
          </a:bodyPr>
          <a:lstStyle/>
          <a:p>
            <a:pPr>
              <a:spcAft>
                <a:spcPts val="700"/>
              </a:spcAft>
              <a:defRPr sz="1500" b="0">
                <a:solidFill>
                  <a:srgbClr val="101923"/>
                </a:solidFill>
                <a:latin typeface="Aptos"/>
              </a:defRPr>
            </a:pPr>
            <a:r>
              <a:t>Exterior wash and hand dry; wheels, tires and door jambs; glass; basic interior vacuum; dashboard and console wipe.</a:t>
            </a:r>
          </a:p>
        </p:txBody>
      </p:sp>
      <p:sp>
        <p:nvSpPr>
          <p:cNvPr id="12" name="Rounded Rectangle 11"/>
          <p:cNvSpPr/>
          <p:nvPr/>
        </p:nvSpPr>
        <p:spPr>
          <a:xfrm>
            <a:off x="4349496"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9496" y="1965960"/>
            <a:ext cx="3508248" cy="100584"/>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2376"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FULL DETAIL</a:t>
            </a:r>
          </a:p>
        </p:txBody>
      </p:sp>
      <p:sp>
        <p:nvSpPr>
          <p:cNvPr id="15" name="TextBox 14"/>
          <p:cNvSpPr txBox="1"/>
          <p:nvPr/>
        </p:nvSpPr>
        <p:spPr>
          <a:xfrm>
            <a:off x="4532376" y="3246120"/>
            <a:ext cx="3142488" cy="2194560"/>
          </a:xfrm>
          <a:prstGeom prst="rect">
            <a:avLst/>
          </a:prstGeom>
          <a:noFill/>
        </p:spPr>
        <p:txBody>
          <a:bodyPr wrap="square">
            <a:spAutoFit/>
          </a:bodyPr>
          <a:lstStyle/>
          <a:p>
            <a:pPr>
              <a:spcAft>
                <a:spcPts val="700"/>
              </a:spcAft>
              <a:defRPr sz="1500" b="0">
                <a:solidFill>
                  <a:srgbClr val="101923"/>
                </a:solidFill>
                <a:latin typeface="Aptos"/>
              </a:defRPr>
            </a:pPr>
            <a:r>
              <a:t>Original deck adds deeper attention to seats, carpets, interior plastics, trim and approved protection steps.</a:t>
            </a:r>
          </a:p>
        </p:txBody>
      </p:sp>
      <p:sp>
        <p:nvSpPr>
          <p:cNvPr id="16" name="Rounded Rectangle 15"/>
          <p:cNvSpPr/>
          <p:nvPr/>
        </p:nvSpPr>
        <p:spPr>
          <a:xfrm>
            <a:off x="8058911"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8911" y="1965960"/>
            <a:ext cx="3508248" cy="100584"/>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1"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EXTRAS</a:t>
            </a:r>
          </a:p>
        </p:txBody>
      </p:sp>
      <p:sp>
        <p:nvSpPr>
          <p:cNvPr id="19" name="TextBox 18"/>
          <p:cNvSpPr txBox="1"/>
          <p:nvPr/>
        </p:nvSpPr>
        <p:spPr>
          <a:xfrm>
            <a:off x="8241791" y="3246120"/>
            <a:ext cx="3142488" cy="2194560"/>
          </a:xfrm>
          <a:prstGeom prst="rect">
            <a:avLst/>
          </a:prstGeom>
          <a:noFill/>
        </p:spPr>
        <p:txBody>
          <a:bodyPr wrap="square">
            <a:spAutoFit/>
          </a:bodyPr>
          <a:lstStyle/>
          <a:p>
            <a:pPr>
              <a:spcAft>
                <a:spcPts val="700"/>
              </a:spcAft>
              <a:defRPr sz="1500" b="0">
                <a:solidFill>
                  <a:srgbClr val="101923"/>
                </a:solidFill>
                <a:latin typeface="Aptos"/>
              </a:defRPr>
            </a:pPr>
            <a:r>
              <a:t>Original add-ons include pet hair, interior protection, headlight restoration and clay bar; confirm current prices.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THE FACE IS NOT THE WHOLE WHEEL</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Wheels and tires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30</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C1-R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Spokes, recesses and accessible barrel clean; tire dressing even and controlled.</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C1-W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Brake dust behind spokes or tire product transferred to painted panels.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WATER SPOTS ARE UNFINISHED WORK</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Paint and glass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31</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C2-R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Vehicle hand-dried, glass clear, mirror housings and trim free of drips.</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C2-W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Air-dried spotting on hood or drip trails below mirrors.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MOVE WHAT CAN SAFELY BE MOVED</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Carpets and seats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32</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C3-R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Mats cleaned separately; accessible seat rails and creases vacuumed.</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C3-W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Vacuuming only around mats; grit left in tracks and seat creases.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CLEAN SHOULD NOT MEAN GREASY</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Dashboard, console and vents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33</a:t>
            </a:r>
          </a:p>
        </p:txBody>
      </p:sp>
      <p:sp>
        <p:nvSpPr>
          <p:cNvPr id="8" name="Rounded Rectangle 7"/>
          <p:cNvSpPr/>
          <p:nvPr/>
        </p:nvSpPr>
        <p:spPr>
          <a:xfrm>
            <a:off x="64008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01952"/>
            <a:ext cx="5349240" cy="475488"/>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RIGHT  /  ACCEPT</a:t>
            </a:r>
          </a:p>
        </p:txBody>
      </p:sp>
      <p:sp>
        <p:nvSpPr>
          <p:cNvPr id="11" name="Rounded Rectangle 10"/>
          <p:cNvSpPr/>
          <p:nvPr/>
        </p:nvSpPr>
        <p:spPr>
          <a:xfrm>
            <a:off x="822959"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C4-R</a:t>
            </a:r>
          </a:p>
          <a:p>
            <a:pPr>
              <a:spcAft>
                <a:spcPts val="700"/>
              </a:spcAft>
              <a:defRPr sz="1700" b="1">
                <a:solidFill>
                  <a:srgbClr val="65717D"/>
                </a:solidFill>
                <a:latin typeface="Aptos"/>
              </a:defRPr>
            </a:pPr>
            <a:r>
              <a:t>SAME CAMERA • SAME LIGHT • SAME ANGLE</a:t>
            </a:r>
          </a:p>
        </p:txBody>
      </p:sp>
      <p:sp>
        <p:nvSpPr>
          <p:cNvPr id="13" name="TextBox 12"/>
          <p:cNvSpPr txBox="1"/>
          <p:nvPr/>
        </p:nvSpPr>
        <p:spPr>
          <a:xfrm>
            <a:off x="822959"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Matte, even finish; cup holders and vents free of debris; screen cleaned safely.</a:t>
            </a:r>
          </a:p>
        </p:txBody>
      </p:sp>
      <p:sp>
        <p:nvSpPr>
          <p:cNvPr id="14" name="Rounded Rectangle 13"/>
          <p:cNvSpPr/>
          <p:nvPr/>
        </p:nvSpPr>
        <p:spPr>
          <a:xfrm>
            <a:off x="6217920" y="1901952"/>
            <a:ext cx="53492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01952"/>
            <a:ext cx="5349240" cy="475488"/>
          </a:xfrm>
          <a:prstGeom prst="rect">
            <a:avLst/>
          </a:prstGeom>
          <a:solidFill>
            <a:srgbClr val="BF3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975104"/>
            <a:ext cx="5029200" cy="320040"/>
          </a:xfrm>
          <a:prstGeom prst="rect">
            <a:avLst/>
          </a:prstGeom>
          <a:noFill/>
        </p:spPr>
        <p:txBody>
          <a:bodyPr wrap="square">
            <a:spAutoFit/>
          </a:bodyPr>
          <a:lstStyle/>
          <a:p>
            <a:pPr>
              <a:spcAft>
                <a:spcPts val="700"/>
              </a:spcAft>
              <a:defRPr sz="1700" b="1">
                <a:solidFill>
                  <a:srgbClr val="FFFFFF"/>
                </a:solidFill>
                <a:latin typeface="Aptos"/>
              </a:defRPr>
            </a:pPr>
            <a:r>
              <a:t>WRONG  /  REWORK</a:t>
            </a:r>
          </a:p>
        </p:txBody>
      </p:sp>
      <p:sp>
        <p:nvSpPr>
          <p:cNvPr id="17" name="Rounded Rectangle 16"/>
          <p:cNvSpPr/>
          <p:nvPr/>
        </p:nvSpPr>
        <p:spPr>
          <a:xfrm>
            <a:off x="6400800" y="2551176"/>
            <a:ext cx="4983480" cy="1874519"/>
          </a:xfrm>
          <a:prstGeom prst="roundRect">
            <a:avLst/>
          </a:prstGeom>
          <a:solidFill>
            <a:srgbClr val="E6E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59" y="3054096"/>
            <a:ext cx="4663440" cy="822960"/>
          </a:xfrm>
          <a:prstGeom prst="rect">
            <a:avLst/>
          </a:prstGeom>
          <a:noFill/>
        </p:spPr>
        <p:txBody>
          <a:bodyPr wrap="square">
            <a:spAutoFit/>
          </a:bodyPr>
          <a:lstStyle/>
          <a:p>
            <a:pPr>
              <a:spcAft>
                <a:spcPts val="700"/>
              </a:spcAft>
              <a:defRPr sz="1700" b="1">
                <a:solidFill>
                  <a:srgbClr val="65717D"/>
                </a:solidFill>
                <a:latin typeface="Aptos"/>
              </a:defRPr>
            </a:pPr>
            <a:r>
              <a:t>PHOTO C4-W</a:t>
            </a:r>
          </a:p>
          <a:p>
            <a:pPr>
              <a:spcAft>
                <a:spcPts val="700"/>
              </a:spcAft>
              <a:defRPr sz="1700" b="1">
                <a:solidFill>
                  <a:srgbClr val="65717D"/>
                </a:solidFill>
                <a:latin typeface="Aptos"/>
              </a:defRPr>
            </a:pPr>
            <a:r>
              <a:t>SAME CAMERA • SAME LIGHT • SAME ANGLE</a:t>
            </a:r>
          </a:p>
        </p:txBody>
      </p:sp>
      <p:sp>
        <p:nvSpPr>
          <p:cNvPr id="19" name="TextBox 18"/>
          <p:cNvSpPr txBox="1"/>
          <p:nvPr/>
        </p:nvSpPr>
        <p:spPr>
          <a:xfrm>
            <a:off x="6400800" y="4608576"/>
            <a:ext cx="4937760" cy="1280160"/>
          </a:xfrm>
          <a:prstGeom prst="rect">
            <a:avLst/>
          </a:prstGeom>
          <a:noFill/>
        </p:spPr>
        <p:txBody>
          <a:bodyPr wrap="square">
            <a:spAutoFit/>
          </a:bodyPr>
          <a:lstStyle/>
          <a:p>
            <a:pPr>
              <a:spcAft>
                <a:spcPts val="700"/>
              </a:spcAft>
              <a:defRPr sz="1700" b="0">
                <a:solidFill>
                  <a:srgbClr val="101923"/>
                </a:solidFill>
                <a:latin typeface="Aptos"/>
              </a:defRPr>
            </a:pPr>
            <a:r>
              <a:t>Shiny residue, glare, dusty vent slats or smeared display.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PROOF IS PART OF THE SERVICE</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Your photo record</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34</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100" b="0">
                <a:solidFill>
                  <a:srgbClr val="101923"/>
                </a:solidFill>
                <a:latin typeface="Aptos"/>
              </a:defRPr>
            </a:pPr>
            <a:r>
              <a:t>Capture only the photos required by the job card and customer authorization. Photograph the completed result from useful angles without exposing people, personal documents, house numbers, license plates or security details.</a:t>
            </a:r>
          </a:p>
          <a:p>
            <a:pPr>
              <a:spcAft>
                <a:spcPts val="700"/>
              </a:spcAft>
              <a:defRPr sz="2100" b="0">
                <a:solidFill>
                  <a:srgbClr val="101923"/>
                </a:solidFill>
                <a:latin typeface="Aptos"/>
              </a:defRPr>
            </a:pPr>
          </a:p>
          <a:p>
            <a:pPr>
              <a:spcAft>
                <a:spcPts val="700"/>
              </a:spcAft>
              <a:defRPr sz="2100" b="0">
                <a:solidFill>
                  <a:srgbClr val="101923"/>
                </a:solidFill>
                <a:latin typeface="Aptos"/>
              </a:defRPr>
            </a:pPr>
            <a:r>
              <a:t>Photos document the work; they do not replace a final quality inspection.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ESCALATE EARLY; NEVER CONCEAL</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When something goes wrong</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35</a:t>
            </a:r>
          </a:p>
        </p:txBody>
      </p:sp>
      <p:sp>
        <p:nvSpPr>
          <p:cNvPr id="8" name="Rounded Rectangle 7"/>
          <p:cNvSpPr/>
          <p:nvPr/>
        </p:nvSpPr>
        <p:spPr>
          <a:xfrm>
            <a:off x="640080"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3508248" cy="100584"/>
          </a:xfrm>
          <a:prstGeom prst="rect">
            <a:avLst/>
          </a:prstGeom>
          <a:solidFill>
            <a:srgbClr val="087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LATE OR NO ACCESS</a:t>
            </a:r>
          </a:p>
        </p:txBody>
      </p:sp>
      <p:sp>
        <p:nvSpPr>
          <p:cNvPr id="11" name="TextBox 10"/>
          <p:cNvSpPr txBox="1"/>
          <p:nvPr/>
        </p:nvSpPr>
        <p:spPr>
          <a:xfrm>
            <a:off x="822959"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Use the approved app/status channel and contact TIDY support; do not silently miss the window.</a:t>
            </a:r>
          </a:p>
        </p:txBody>
      </p:sp>
      <p:sp>
        <p:nvSpPr>
          <p:cNvPr id="12" name="Rounded Rectangle 11"/>
          <p:cNvSpPr/>
          <p:nvPr/>
        </p:nvSpPr>
        <p:spPr>
          <a:xfrm>
            <a:off x="4349496"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9496" y="1965960"/>
            <a:ext cx="3508248" cy="100584"/>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2376"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DAMAGE OR SAFETY</a:t>
            </a:r>
          </a:p>
        </p:txBody>
      </p:sp>
      <p:sp>
        <p:nvSpPr>
          <p:cNvPr id="15" name="TextBox 14"/>
          <p:cNvSpPr txBox="1"/>
          <p:nvPr/>
        </p:nvSpPr>
        <p:spPr>
          <a:xfrm>
            <a:off x="4532376"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Stop the affected work, make the area safe and report facts immediately.</a:t>
            </a:r>
          </a:p>
        </p:txBody>
      </p:sp>
      <p:sp>
        <p:nvSpPr>
          <p:cNvPr id="16" name="Rounded Rectangle 15"/>
          <p:cNvSpPr/>
          <p:nvPr/>
        </p:nvSpPr>
        <p:spPr>
          <a:xfrm>
            <a:off x="8058911"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8911" y="1965960"/>
            <a:ext cx="3508248" cy="100584"/>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1"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SCOPE DISPUTE</a:t>
            </a:r>
          </a:p>
        </p:txBody>
      </p:sp>
      <p:sp>
        <p:nvSpPr>
          <p:cNvPr id="19" name="TextBox 18"/>
          <p:cNvSpPr txBox="1"/>
          <p:nvPr/>
        </p:nvSpPr>
        <p:spPr>
          <a:xfrm>
            <a:off x="8241791" y="3246120"/>
            <a:ext cx="3142488" cy="2194560"/>
          </a:xfrm>
          <a:prstGeom prst="rect">
            <a:avLst/>
          </a:prstGeom>
          <a:noFill/>
        </p:spPr>
        <p:txBody>
          <a:bodyPr wrap="square">
            <a:spAutoFit/>
          </a:bodyPr>
          <a:lstStyle/>
          <a:p>
            <a:pPr>
              <a:spcAft>
                <a:spcPts val="700"/>
              </a:spcAft>
              <a:defRPr sz="1600" b="0">
                <a:solidFill>
                  <a:srgbClr val="101923"/>
                </a:solidFill>
                <a:latin typeface="Aptos"/>
              </a:defRPr>
            </a:pPr>
            <a:r>
              <a:t>Do not promise free extras or argue; document the request and obtain authorization.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ORIGINAL SERVICE-RECOVERY PROGRAM</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The 48-hour resolution standard</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36</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000" b="0">
                <a:solidFill>
                  <a:srgbClr val="101923"/>
                </a:solidFill>
                <a:latin typeface="Aptos"/>
              </a:defRPr>
            </a:pPr>
            <a:r>
              <a:t>The original presentation describes a customer rework window of 48 hours, with the original Pro receiving 50% of the visit rate for an eligible return.</a:t>
            </a:r>
          </a:p>
          <a:p>
            <a:pPr>
              <a:spcAft>
                <a:spcPts val="700"/>
              </a:spcAft>
              <a:defRPr sz="2000" b="0">
                <a:solidFill>
                  <a:srgbClr val="101923"/>
                </a:solidFill>
                <a:latin typeface="Aptos"/>
              </a:defRPr>
            </a:pPr>
          </a:p>
          <a:p>
            <a:pPr>
              <a:spcAft>
                <a:spcPts val="700"/>
              </a:spcAft>
              <a:defRPr sz="2000" b="0">
                <a:solidFill>
                  <a:srgbClr val="101923"/>
                </a:solidFill>
                <a:latin typeface="Aptos"/>
              </a:defRPr>
            </a:pPr>
            <a:r>
              <a:t>This is a proposed program rule until its exact eligibility, payment treatment and customer communication are approved in the contractor agreement.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FFD400"/>
                </a:solidFill>
                <a:latin typeface="Aptos"/>
              </a:defRPr>
            </a:pPr>
            <a:r>
              <a:t>PROTECT TRUST AND ACCESS</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FFFFFF"/>
                </a:solidFill>
                <a:latin typeface="Aptos"/>
              </a:defRPr>
            </a:pPr>
            <a:r>
              <a:t>Four non-negotiable boundaries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37</a:t>
            </a:r>
          </a:p>
        </p:txBody>
      </p:sp>
      <p:sp>
        <p:nvSpPr>
          <p:cNvPr id="8" name="Rounded Rectangle 7"/>
          <p:cNvSpPr/>
          <p:nvPr/>
        </p:nvSpPr>
        <p:spPr>
          <a:xfrm>
            <a:off x="640080"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3508248" cy="100584"/>
          </a:xfrm>
          <a:prstGeom prst="rect">
            <a:avLst/>
          </a:prstGeom>
          <a:solidFill>
            <a:srgbClr val="087F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PRIVACY</a:t>
            </a:r>
          </a:p>
        </p:txBody>
      </p:sp>
      <p:sp>
        <p:nvSpPr>
          <p:cNvPr id="11" name="TextBox 10"/>
          <p:cNvSpPr txBox="1"/>
          <p:nvPr/>
        </p:nvSpPr>
        <p:spPr>
          <a:xfrm>
            <a:off x="822959" y="3246120"/>
            <a:ext cx="3142488" cy="2194560"/>
          </a:xfrm>
          <a:prstGeom prst="rect">
            <a:avLst/>
          </a:prstGeom>
          <a:noFill/>
        </p:spPr>
        <p:txBody>
          <a:bodyPr wrap="square">
            <a:spAutoFit/>
          </a:bodyPr>
          <a:lstStyle/>
          <a:p>
            <a:pPr>
              <a:spcAft>
                <a:spcPts val="700"/>
              </a:spcAft>
              <a:defRPr sz="1700" b="0">
                <a:solidFill>
                  <a:srgbClr val="101923"/>
                </a:solidFill>
                <a:latin typeface="Aptos"/>
              </a:defRPr>
            </a:pPr>
            <a:r>
              <a:t>Never solicit or privately take TIDY customer relationships.</a:t>
            </a:r>
          </a:p>
        </p:txBody>
      </p:sp>
      <p:sp>
        <p:nvSpPr>
          <p:cNvPr id="12" name="Rounded Rectangle 11"/>
          <p:cNvSpPr/>
          <p:nvPr/>
        </p:nvSpPr>
        <p:spPr>
          <a:xfrm>
            <a:off x="4349496"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9496" y="1965960"/>
            <a:ext cx="3508248" cy="100584"/>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2376"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IDENTITY</a:t>
            </a:r>
          </a:p>
        </p:txBody>
      </p:sp>
      <p:sp>
        <p:nvSpPr>
          <p:cNvPr id="15" name="TextBox 14"/>
          <p:cNvSpPr txBox="1"/>
          <p:nvPr/>
        </p:nvSpPr>
        <p:spPr>
          <a:xfrm>
            <a:off x="4532376" y="3246120"/>
            <a:ext cx="3142488" cy="2194560"/>
          </a:xfrm>
          <a:prstGeom prst="rect">
            <a:avLst/>
          </a:prstGeom>
          <a:noFill/>
        </p:spPr>
        <p:txBody>
          <a:bodyPr wrap="square">
            <a:spAutoFit/>
          </a:bodyPr>
          <a:lstStyle/>
          <a:p>
            <a:pPr>
              <a:spcAft>
                <a:spcPts val="700"/>
              </a:spcAft>
              <a:defRPr sz="1700" b="0">
                <a:solidFill>
                  <a:srgbClr val="101923"/>
                </a:solidFill>
                <a:latin typeface="Aptos"/>
              </a:defRPr>
            </a:pPr>
            <a:r>
              <a:t>Never send an unauthorized substitute to a property.</a:t>
            </a:r>
          </a:p>
        </p:txBody>
      </p:sp>
      <p:sp>
        <p:nvSpPr>
          <p:cNvPr id="16" name="Rounded Rectangle 15"/>
          <p:cNvSpPr/>
          <p:nvPr/>
        </p:nvSpPr>
        <p:spPr>
          <a:xfrm>
            <a:off x="8058911" y="1965960"/>
            <a:ext cx="3508248" cy="3794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8911" y="1965960"/>
            <a:ext cx="3508248" cy="100584"/>
          </a:xfrm>
          <a:prstGeom prst="rect">
            <a:avLst/>
          </a:prstGeom>
          <a:solidFill>
            <a:srgbClr val="259E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1791" y="2331720"/>
            <a:ext cx="3142488" cy="731520"/>
          </a:xfrm>
          <a:prstGeom prst="rect">
            <a:avLst/>
          </a:prstGeom>
          <a:noFill/>
        </p:spPr>
        <p:txBody>
          <a:bodyPr wrap="square">
            <a:spAutoFit/>
          </a:bodyPr>
          <a:lstStyle/>
          <a:p>
            <a:pPr>
              <a:spcAft>
                <a:spcPts val="700"/>
              </a:spcAft>
              <a:defRPr sz="2300" b="1">
                <a:solidFill>
                  <a:srgbClr val="101923"/>
                </a:solidFill>
                <a:latin typeface="Aptos"/>
              </a:defRPr>
            </a:pPr>
            <a:r>
              <a:t>ACCOUNTABILITY</a:t>
            </a:r>
          </a:p>
        </p:txBody>
      </p:sp>
      <p:sp>
        <p:nvSpPr>
          <p:cNvPr id="19" name="TextBox 18"/>
          <p:cNvSpPr txBox="1"/>
          <p:nvPr/>
        </p:nvSpPr>
        <p:spPr>
          <a:xfrm>
            <a:off x="8241791" y="3246120"/>
            <a:ext cx="3142488" cy="2194560"/>
          </a:xfrm>
          <a:prstGeom prst="rect">
            <a:avLst/>
          </a:prstGeom>
          <a:noFill/>
        </p:spPr>
        <p:txBody>
          <a:bodyPr wrap="square">
            <a:spAutoFit/>
          </a:bodyPr>
          <a:lstStyle/>
          <a:p>
            <a:pPr>
              <a:spcAft>
                <a:spcPts val="700"/>
              </a:spcAft>
              <a:defRPr sz="1700" b="0">
                <a:solidFill>
                  <a:srgbClr val="101923"/>
                </a:solidFill>
                <a:latin typeface="Aptos"/>
              </a:defRPr>
            </a:pPr>
            <a:r>
              <a:t>Never conceal damage, missed appointments or a lapse in required coverage.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COMMUNICATION IS THE INVISIBLE SERVICE</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A customer should never have to guess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38</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200" b="0">
                <a:solidFill>
                  <a:srgbClr val="101923"/>
                </a:solidFill>
                <a:latin typeface="Aptos"/>
              </a:defRPr>
            </a:pPr>
            <a:r>
              <a:t>If an arrival window changes: report it before the customer has to ask.</a:t>
            </a:r>
          </a:p>
          <a:p>
            <a:pPr>
              <a:spcAft>
                <a:spcPts val="700"/>
              </a:spcAft>
              <a:defRPr sz="2200" b="0">
                <a:solidFill>
                  <a:srgbClr val="101923"/>
                </a:solidFill>
                <a:latin typeface="Aptos"/>
              </a:defRPr>
            </a:pPr>
            <a:r>
              <a:t>If the scope changes: seek approval before starting extras.</a:t>
            </a:r>
          </a:p>
          <a:p>
            <a:pPr>
              <a:spcAft>
                <a:spcPts val="700"/>
              </a:spcAft>
              <a:defRPr sz="2200" b="0">
                <a:solidFill>
                  <a:srgbClr val="101923"/>
                </a:solidFill>
                <a:latin typeface="Aptos"/>
              </a:defRPr>
            </a:pPr>
            <a:r>
              <a:t>If a problem occurs: document it promptly and factually.</a:t>
            </a:r>
          </a:p>
          <a:p>
            <a:pPr>
              <a:spcAft>
                <a:spcPts val="700"/>
              </a:spcAft>
              <a:defRPr sz="2200" b="0">
                <a:solidFill>
                  <a:srgbClr val="101923"/>
                </a:solidFill>
                <a:latin typeface="Aptos"/>
              </a:defRPr>
            </a:pPr>
            <a:r>
              <a:t>If the visit is complete: close out the job with accurate photos and status.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SCENARIO 01</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Knowledge check: would you proceed?</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39</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100" b="0">
                <a:solidFill>
                  <a:srgbClr val="101923"/>
                </a:solidFill>
                <a:latin typeface="Aptos"/>
              </a:defRPr>
            </a:pPr>
            <a:r>
              <a:t>The job card says “standard cleaning.” The customer asks you to clean inside the oven and refrigerator while you are there.</a:t>
            </a:r>
          </a:p>
          <a:p>
            <a:pPr>
              <a:spcAft>
                <a:spcPts val="700"/>
              </a:spcAft>
              <a:defRPr sz="2100" b="0">
                <a:solidFill>
                  <a:srgbClr val="101923"/>
                </a:solidFill>
                <a:latin typeface="Aptos"/>
              </a:defRPr>
            </a:pPr>
          </a:p>
          <a:p>
            <a:pPr>
              <a:spcAft>
                <a:spcPts val="700"/>
              </a:spcAft>
              <a:defRPr sz="2100" b="0">
                <a:solidFill>
                  <a:srgbClr val="101923"/>
                </a:solidFill>
                <a:latin typeface="Aptos"/>
              </a:defRPr>
            </a:pPr>
            <a:r>
              <a:t>Correct response: explain that these are separately booked services and request approval through TIDY before completing them.</a:t>
            </a:r>
          </a:p>
          <a:p>
            <a:pPr>
              <a:spcAft>
                <a:spcPts val="700"/>
              </a:spcAft>
              <a:defRPr sz="2100" b="0">
                <a:solidFill>
                  <a:srgbClr val="101923"/>
                </a:solidFill>
                <a:latin typeface="Aptos"/>
              </a:defRPr>
            </a:pPr>
          </a:p>
          <a:p>
            <a:pPr>
              <a:spcAft>
                <a:spcPts val="700"/>
              </a:spcAft>
              <a:defRPr sz="2100" b="0">
                <a:solidFill>
                  <a:srgbClr val="101923"/>
                </a:solidFill>
                <a:latin typeface="Aptos"/>
              </a:defRPr>
            </a:pPr>
            <a:r>
              <a:t>Never imply that unbooked work is included.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SCENARIO 02</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Knowledge check: find the misses</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40</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100" b="0">
                <a:solidFill>
                  <a:srgbClr val="101923"/>
                </a:solidFill>
                <a:latin typeface="Aptos"/>
              </a:defRPr>
            </a:pPr>
            <a:r>
              <a:t>A bathroom looks bright from the doorway, but the shower track has film, the mirror shows streaks, and the toilet base is dusty.</a:t>
            </a:r>
          </a:p>
          <a:p>
            <a:pPr>
              <a:spcAft>
                <a:spcPts val="700"/>
              </a:spcAft>
              <a:defRPr sz="2100" b="0">
                <a:solidFill>
                  <a:srgbClr val="101923"/>
                </a:solidFill>
                <a:latin typeface="Aptos"/>
              </a:defRPr>
            </a:pPr>
          </a:p>
          <a:p>
            <a:pPr>
              <a:spcAft>
                <a:spcPts val="700"/>
              </a:spcAft>
              <a:defRPr sz="2100" b="0">
                <a:solidFill>
                  <a:srgbClr val="101923"/>
                </a:solidFill>
                <a:latin typeface="Aptos"/>
              </a:defRPr>
            </a:pPr>
            <a:r>
              <a:t>Correct response: the visit is not finished. Address the details, inspect under normal light and capture the required completion evidence.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SCENARIO 03</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Knowledge check: protect the home</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41</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100" b="0">
                <a:solidFill>
                  <a:srgbClr val="101923"/>
                </a:solidFill>
                <a:latin typeface="Aptos"/>
              </a:defRPr>
            </a:pPr>
            <a:r>
              <a:t>A lawn job is complete, but the side gate remains open and clippings are on the sidewalk.</a:t>
            </a:r>
          </a:p>
          <a:p>
            <a:pPr>
              <a:spcAft>
                <a:spcPts val="700"/>
              </a:spcAft>
              <a:defRPr sz="2100" b="0">
                <a:solidFill>
                  <a:srgbClr val="101923"/>
                </a:solidFill>
                <a:latin typeface="Aptos"/>
              </a:defRPr>
            </a:pPr>
          </a:p>
          <a:p>
            <a:pPr>
              <a:spcAft>
                <a:spcPts val="700"/>
              </a:spcAft>
              <a:defRPr sz="2100" b="0">
                <a:solidFill>
                  <a:srgbClr val="101923"/>
                </a:solidFill>
                <a:latin typeface="Aptos"/>
              </a:defRPr>
            </a:pPr>
            <a:r>
              <a:t>Correct response: return to finish the blowdown and secure the gate before marking the visit complete; report any property issue.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FFD400"/>
                </a:solidFill>
                <a:latin typeface="Aptos"/>
              </a:defRPr>
            </a:pPr>
            <a:r>
              <a:t>READY MEANS VERIFIED, NOT ASSUMED</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FFFFFF"/>
                </a:solidFill>
                <a:latin typeface="Aptos"/>
              </a:defRPr>
            </a:pPr>
            <a:r>
              <a:t>Your first assignment</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42</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2000" b="0">
                <a:solidFill>
                  <a:srgbClr val="FFFFFF"/>
                </a:solidFill>
                <a:latin typeface="Aptos"/>
              </a:defRPr>
            </a:pPr>
            <a:r>
              <a:t>Before accepting your first paid visit, confirm: signed documents, insurance and screening status, accepted scope and pay terms, route details, access instructions, approved communication method and completion-photo requirements.</a:t>
            </a:r>
          </a:p>
          <a:p>
            <a:pPr>
              <a:spcAft>
                <a:spcPts val="700"/>
              </a:spcAft>
              <a:defRPr sz="2000" b="0">
                <a:solidFill>
                  <a:srgbClr val="FFFFFF"/>
                </a:solidFill>
                <a:latin typeface="Aptos"/>
              </a:defRPr>
            </a:pPr>
          </a:p>
          <a:p>
            <a:pPr>
              <a:spcAft>
                <a:spcPts val="700"/>
              </a:spcAft>
              <a:defRPr sz="2000" b="0">
                <a:solidFill>
                  <a:srgbClr val="FFFFFF"/>
                </a:solidFill>
                <a:latin typeface="Aptos"/>
              </a:defRPr>
            </a:pPr>
            <a:r>
              <a:t>Questions? TIDY support: (786) 829-1141</a:t>
            </a:r>
          </a:p>
          <a:p>
            <a:pPr>
              <a:spcAft>
                <a:spcPts val="700"/>
              </a:spcAft>
              <a:defRPr sz="2000" b="0">
                <a:solidFill>
                  <a:srgbClr val="FFFFFF"/>
                </a:solidFill>
                <a:latin typeface="Aptos"/>
              </a:defRPr>
            </a:pPr>
            <a:r>
              <a:t>jointidy.co</a:t>
            </a:r>
          </a:p>
        </p:txBody>
      </p:sp>
      <p:pic>
        <p:nvPicPr>
          <p:cNvPr id="9" name="Picture 8" descr="tidy_official_logo.png"/>
          <p:cNvPicPr>
            <a:picLocks noChangeAspect="1"/>
          </p:cNvPicPr>
          <p:nvPr/>
        </p:nvPicPr>
        <p:blipFill>
          <a:blip r:embed="rId2"/>
          <a:stretch>
            <a:fillRect/>
          </a:stretch>
        </p:blipFill>
        <p:spPr>
          <a:xfrm>
            <a:off x="9418320" y="4023360"/>
            <a:ext cx="1828800" cy="1511438"/>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HANDOFF / VISUAL AND MOTION DIRECTION</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Production brief for Claude</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43</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1800" b="0">
                <a:solidFill>
                  <a:srgbClr val="101923"/>
                </a:solidFill>
                <a:latin typeface="Aptos"/>
              </a:defRPr>
            </a:pPr>
            <a:r>
              <a:t>Keep every slide editable. Use the exact supplied TIDY circular logo—never recreate the wordmark. Palette: deep charcoal, saturated TIDY blue, warm yellow, clean white. Use large editorial headlines and purposeful negative space.</a:t>
            </a:r>
          </a:p>
          <a:p>
            <a:pPr>
              <a:spcAft>
                <a:spcPts val="700"/>
              </a:spcAft>
              <a:defRPr sz="1800" b="0">
                <a:solidFill>
                  <a:srgbClr val="101923"/>
                </a:solidFill>
                <a:latin typeface="Aptos"/>
              </a:defRPr>
            </a:pPr>
          </a:p>
          <a:p>
            <a:pPr>
              <a:spcAft>
                <a:spcPts val="700"/>
              </a:spcAft>
              <a:defRPr sz="1800" b="0">
                <a:solidFill>
                  <a:srgbClr val="101923"/>
                </a:solidFill>
                <a:latin typeface="Aptos"/>
              </a:defRPr>
            </a:pPr>
            <a:r>
              <a:t>Replace each PHOTO code with matched before/after photos from the attached shot list. Do not invent evidence or label generated images as real jobs. Animate process steps one at a time; compare pairs with a synchronized left/right reveal; avoid decorative motion.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4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75488"/>
            <a:ext cx="512064" cy="59436"/>
          </a:xfrm>
          <a:prstGeom prst="rect">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0080"/>
            <a:ext cx="10058400" cy="274320"/>
          </a:xfrm>
          <a:prstGeom prst="rect">
            <a:avLst/>
          </a:prstGeom>
          <a:noFill/>
        </p:spPr>
        <p:txBody>
          <a:bodyPr wrap="square">
            <a:spAutoFit/>
          </a:bodyPr>
          <a:lstStyle/>
          <a:p>
            <a:pPr>
              <a:spcAft>
                <a:spcPts val="700"/>
              </a:spcAft>
              <a:defRPr sz="1000" b="1">
                <a:solidFill>
                  <a:srgbClr val="087FC2"/>
                </a:solidFill>
                <a:latin typeface="Aptos"/>
              </a:defRPr>
            </a:pPr>
            <a:r>
              <a:t>DECISIONS TO VALIDATE BEFORE CONTRACTOR DISTRIBUTION</a:t>
            </a:r>
          </a:p>
        </p:txBody>
      </p:sp>
      <p:sp>
        <p:nvSpPr>
          <p:cNvPr id="5" name="TextBox 4"/>
          <p:cNvSpPr txBox="1"/>
          <p:nvPr/>
        </p:nvSpPr>
        <p:spPr>
          <a:xfrm>
            <a:off x="612648" y="969264"/>
            <a:ext cx="10972800" cy="731520"/>
          </a:xfrm>
          <a:prstGeom prst="rect">
            <a:avLst/>
          </a:prstGeom>
          <a:noFill/>
        </p:spPr>
        <p:txBody>
          <a:bodyPr wrap="square">
            <a:spAutoFit/>
          </a:bodyPr>
          <a:lstStyle/>
          <a:p>
            <a:pPr>
              <a:spcAft>
                <a:spcPts val="700"/>
              </a:spcAft>
              <a:defRPr sz="3500" b="1">
                <a:solidFill>
                  <a:srgbClr val="101923"/>
                </a:solidFill>
                <a:latin typeface="Aptos"/>
              </a:defRPr>
            </a:pPr>
            <a:r>
              <a:t>Release checklist</a:t>
            </a:r>
          </a:p>
        </p:txBody>
      </p:sp>
      <p:sp>
        <p:nvSpPr>
          <p:cNvPr id="6" name="TextBox 5"/>
          <p:cNvSpPr txBox="1"/>
          <p:nvPr/>
        </p:nvSpPr>
        <p:spPr>
          <a:xfrm>
            <a:off x="640080" y="6519672"/>
            <a:ext cx="7315200" cy="201168"/>
          </a:xfrm>
          <a:prstGeom prst="rect">
            <a:avLst/>
          </a:prstGeom>
          <a:noFill/>
        </p:spPr>
        <p:txBody>
          <a:bodyPr wrap="square">
            <a:spAutoFit/>
          </a:bodyPr>
          <a:lstStyle/>
          <a:p>
            <a:pPr>
              <a:spcAft>
                <a:spcPts val="700"/>
              </a:spcAft>
              <a:defRPr sz="900" b="0">
                <a:solidFill>
                  <a:srgbClr val="65717D"/>
                </a:solidFill>
                <a:latin typeface="Aptos"/>
              </a:defRPr>
            </a:pPr>
            <a:r>
              <a:t>TIDY  /  PRO ORIENTATION</a:t>
            </a:r>
          </a:p>
        </p:txBody>
      </p:sp>
      <p:sp>
        <p:nvSpPr>
          <p:cNvPr id="7" name="TextBox 6"/>
          <p:cNvSpPr txBox="1"/>
          <p:nvPr/>
        </p:nvSpPr>
        <p:spPr>
          <a:xfrm>
            <a:off x="11155680" y="6501384"/>
            <a:ext cx="457200" cy="201168"/>
          </a:xfrm>
          <a:prstGeom prst="rect">
            <a:avLst/>
          </a:prstGeom>
          <a:noFill/>
        </p:spPr>
        <p:txBody>
          <a:bodyPr wrap="square">
            <a:spAutoFit/>
          </a:bodyPr>
          <a:lstStyle/>
          <a:p>
            <a:pPr>
              <a:spcAft>
                <a:spcPts val="700"/>
              </a:spcAft>
              <a:defRPr sz="900" b="0">
                <a:solidFill>
                  <a:srgbClr val="65717D"/>
                </a:solidFill>
                <a:latin typeface="Aptos"/>
              </a:defRPr>
            </a:pPr>
            <a:r>
              <a:t>44</a:t>
            </a:r>
          </a:p>
        </p:txBody>
      </p:sp>
      <p:sp>
        <p:nvSpPr>
          <p:cNvPr id="8" name="TextBox 7"/>
          <p:cNvSpPr txBox="1"/>
          <p:nvPr/>
        </p:nvSpPr>
        <p:spPr>
          <a:xfrm>
            <a:off x="685800" y="1874519"/>
            <a:ext cx="10881360" cy="4434840"/>
          </a:xfrm>
          <a:prstGeom prst="rect">
            <a:avLst/>
          </a:prstGeom>
          <a:noFill/>
        </p:spPr>
        <p:txBody>
          <a:bodyPr wrap="square">
            <a:spAutoFit/>
          </a:bodyPr>
          <a:lstStyle/>
          <a:p>
            <a:pPr>
              <a:spcAft>
                <a:spcPts val="700"/>
              </a:spcAft>
              <a:defRPr sz="1800" b="0">
                <a:solidFill>
                  <a:srgbClr val="101923"/>
                </a:solidFill>
                <a:latin typeface="Aptos"/>
              </a:defRPr>
            </a:pPr>
            <a:r>
              <a:t>LEGAL: independent-contractor language, non-solicitation, background-check process, insurance additional-insured terms.</a:t>
            </a:r>
          </a:p>
          <a:p>
            <a:pPr>
              <a:spcAft>
                <a:spcPts val="700"/>
              </a:spcAft>
              <a:defRPr sz="1800" b="0">
                <a:solidFill>
                  <a:srgbClr val="101923"/>
                </a:solidFill>
                <a:latin typeface="Aptos"/>
              </a:defRPr>
            </a:pPr>
            <a:r>
              <a:t>COMMERCIAL: visit rates, add-on prices, review incentives, milestone bonus, insurance contribution and rework payment.</a:t>
            </a:r>
          </a:p>
          <a:p>
            <a:pPr>
              <a:spcAft>
                <a:spcPts val="700"/>
              </a:spcAft>
              <a:defRPr sz="1800" b="0">
                <a:solidFill>
                  <a:srgbClr val="101923"/>
                </a:solidFill>
                <a:latin typeface="Aptos"/>
              </a:defRPr>
            </a:pPr>
            <a:r>
              <a:t>OPERATIONS: actual app behavior, support hours, launch dates, uniform/badge status, service scope and photography consent.</a:t>
            </a:r>
          </a:p>
          <a:p>
            <a:pPr>
              <a:spcAft>
                <a:spcPts val="700"/>
              </a:spcAft>
              <a:defRPr sz="1800" b="0">
                <a:solidFill>
                  <a:srgbClr val="101923"/>
                </a:solidFill>
                <a:latin typeface="Aptos"/>
              </a:defRPr>
            </a:pPr>
          </a:p>
          <a:p>
            <a:pPr>
              <a:spcAft>
                <a:spcPts val="700"/>
              </a:spcAft>
              <a:defRPr sz="1800" b="0">
                <a:solidFill>
                  <a:srgbClr val="101923"/>
                </a:solidFill>
                <a:latin typeface="Aptos"/>
              </a:defRPr>
            </a:pPr>
            <a:r>
              <a:t>Do not publish unverified claims as settled policy.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